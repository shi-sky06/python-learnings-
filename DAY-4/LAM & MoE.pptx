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60" r:id="rId5"/>
    <p:sldId id="259" r:id="rId6"/>
    <p:sldId id="261"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685800" y="1235075"/>
            <a:ext cx="7424420" cy="3336925"/>
          </a:xfrm>
        </p:spPr>
        <p:txBody>
          <a:bodyPr/>
          <a:lstStyle/>
          <a:p>
            <a:r>
              <a:rPr sz="3600" b="1">
                <a:latin typeface="Times New Roman" panose="02020603050405020304" charset="0"/>
                <a:cs typeface="Times New Roman" panose="02020603050405020304" charset="0"/>
              </a:rPr>
              <a:t>AI Model Overview</a:t>
            </a:r>
            <a:endParaRPr sz="3600" b="1">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274955"/>
            <a:ext cx="8229600" cy="734060"/>
          </a:xfrm>
        </p:spPr>
        <p:txBody>
          <a:bodyPr>
            <a:normAutofit fontScale="90000"/>
          </a:bodyPr>
          <a:lstStyle/>
          <a:p>
            <a:r>
              <a:rPr>
                <a:latin typeface="Times New Roman" panose="02020603050405020304" charset="0"/>
                <a:cs typeface="Times New Roman" panose="02020603050405020304" charset="0"/>
              </a:rPr>
              <a:t>L</a:t>
            </a:r>
            <a:r>
              <a:rPr lang="en-US">
                <a:latin typeface="Times New Roman" panose="02020603050405020304" charset="0"/>
                <a:cs typeface="Times New Roman" panose="02020603050405020304" charset="0"/>
              </a:rPr>
              <a:t>A</a:t>
            </a:r>
            <a:r>
              <a:rPr>
                <a:latin typeface="Times New Roman" panose="02020603050405020304" charset="0"/>
                <a:cs typeface="Times New Roman" panose="02020603050405020304" charset="0"/>
              </a:rPr>
              <a:t>M Workflow</a:t>
            </a:r>
            <a:endParaRPr>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457200" y="1190625"/>
            <a:ext cx="8229600" cy="4935855"/>
          </a:xfrm>
        </p:spPr>
        <p:txBody>
          <a:bodyPr>
            <a:normAutofit fontScale="90000"/>
          </a:bodyPr>
          <a:lstStyle/>
          <a:p>
            <a:pPr marL="0" indent="0">
              <a:buNone/>
              <a:defRPr sz="2000"/>
            </a:pPr>
            <a:r>
              <a:rPr lang="en-US" b="1">
                <a:latin typeface="Times New Roman" panose="02020603050405020304" charset="0"/>
                <a:cs typeface="Times New Roman" panose="02020603050405020304" charset="0"/>
              </a:rPr>
              <a:t>LAM </a:t>
            </a:r>
            <a:r>
              <a:rPr lang="en-US">
                <a:latin typeface="Times New Roman" panose="02020603050405020304" charset="0"/>
                <a:cs typeface="Times New Roman" panose="02020603050405020304" charset="0"/>
              </a:rPr>
              <a:t>- </a:t>
            </a:r>
            <a:r>
              <a:rPr lang="en-US" altLang="en-US" sz="1800">
                <a:latin typeface="Times New Roman" panose="02020603050405020304" charset="0"/>
                <a:cs typeface="Times New Roman" panose="02020603050405020304" charset="0"/>
              </a:rPr>
              <a:t>A Large Action Model (LAM) is a type of artificial intelligence model designed to understand user requests, plan the required actions, and perform tasks by interacting with software, applications, websites, or digital tools.</a:t>
            </a:r>
            <a:endParaRPr lang="en-US" altLang="en-US" sz="1800">
              <a:latin typeface="Times New Roman" panose="02020603050405020304" charset="0"/>
              <a:cs typeface="Times New Roman" panose="02020603050405020304" charset="0"/>
            </a:endParaRPr>
          </a:p>
          <a:p>
            <a:pPr marL="0" indent="0">
              <a:buNone/>
              <a:defRPr sz="2000"/>
            </a:pPr>
            <a:endParaRPr lang="en-US" altLang="en-US" sz="1800">
              <a:latin typeface="Times New Roman" panose="02020603050405020304" charset="0"/>
              <a:cs typeface="Times New Roman" panose="02020603050405020304" charset="0"/>
            </a:endParaRPr>
          </a:p>
          <a:p>
            <a:pPr marL="0" indent="0">
              <a:buNone/>
              <a:defRPr sz="2000"/>
            </a:pPr>
            <a:r>
              <a:rPr lang="en-US" sz="1800" b="1">
                <a:latin typeface="Times New Roman" panose="02020603050405020304" charset="0"/>
                <a:cs typeface="Times New Roman" panose="02020603050405020304" charset="0"/>
              </a:rPr>
              <a:t>Working:</a:t>
            </a:r>
            <a:endParaRPr sz="1800" b="1">
              <a:latin typeface="Times New Roman" panose="02020603050405020304" charset="0"/>
              <a:cs typeface="Times New Roman" panose="02020603050405020304" charset="0"/>
            </a:endParaRPr>
          </a:p>
          <a:p>
            <a:pPr marL="0" indent="0">
              <a:buNone/>
              <a:defRPr sz="2000"/>
            </a:pPr>
            <a:r>
              <a:rPr lang="en-US" altLang="en-US" sz="1800">
                <a:latin typeface="Times New Roman" panose="02020603050405020304" charset="0"/>
                <a:cs typeface="Times New Roman" panose="02020603050405020304" charset="0"/>
              </a:rPr>
              <a:t>Input → Intent Understanding → Task Planning → Tool Selection → Action Execution → Output</a:t>
            </a:r>
            <a:endParaRPr lang="en-US" altLang="en-US" sz="1800">
              <a:latin typeface="Times New Roman" panose="02020603050405020304" charset="0"/>
              <a:cs typeface="Times New Roman" panose="02020603050405020304" charset="0"/>
            </a:endParaRPr>
          </a:p>
          <a:p>
            <a:pPr marL="0" indent="0">
              <a:buNone/>
              <a:defRPr sz="2000"/>
            </a:pPr>
            <a:endParaRPr lang="en-US" altLang="en-US" sz="1800">
              <a:latin typeface="Times New Roman" panose="02020603050405020304" charset="0"/>
              <a:cs typeface="Times New Roman" panose="02020603050405020304" charset="0"/>
            </a:endParaRPr>
          </a:p>
          <a:p>
            <a:pPr>
              <a:defRPr sz="2000"/>
            </a:pPr>
            <a:r>
              <a:rPr lang="en-US" altLang="en-US" sz="1800" b="1">
                <a:latin typeface="Times New Roman" panose="02020603050405020304" charset="0"/>
                <a:cs typeface="Times New Roman" panose="02020603050405020304" charset="0"/>
              </a:rPr>
              <a:t>Input: </a:t>
            </a:r>
            <a:r>
              <a:rPr lang="en-US" altLang="en-US" sz="1800">
                <a:latin typeface="Times New Roman" panose="02020603050405020304" charset="0"/>
                <a:cs typeface="Times New Roman" panose="02020603050405020304" charset="0"/>
              </a:rPr>
              <a:t>is the instruction or task given by the user.</a:t>
            </a:r>
            <a:endParaRPr lang="en-US" altLang="en-US" sz="1800">
              <a:latin typeface="Times New Roman" panose="02020603050405020304" charset="0"/>
              <a:cs typeface="Times New Roman" panose="02020603050405020304" charset="0"/>
            </a:endParaRPr>
          </a:p>
          <a:p>
            <a:pPr>
              <a:defRPr sz="2000"/>
            </a:pPr>
            <a:r>
              <a:rPr lang="en-US" altLang="en-US" sz="1800" b="1">
                <a:latin typeface="Times New Roman" panose="02020603050405020304" charset="0"/>
                <a:cs typeface="Times New Roman" panose="02020603050405020304" charset="0"/>
              </a:rPr>
              <a:t>Intent Understanding: i</a:t>
            </a:r>
            <a:r>
              <a:rPr lang="en-US" altLang="en-US" sz="1800">
                <a:latin typeface="Times New Roman" panose="02020603050405020304" charset="0"/>
                <a:cs typeface="Times New Roman" panose="02020603050405020304" charset="0"/>
              </a:rPr>
              <a:t>dentifies what the user wants to accomplish and extracts key details.</a:t>
            </a:r>
            <a:endParaRPr lang="en-US" altLang="en-US" sz="1800">
              <a:latin typeface="Times New Roman" panose="02020603050405020304" charset="0"/>
              <a:cs typeface="Times New Roman" panose="02020603050405020304" charset="0"/>
            </a:endParaRPr>
          </a:p>
          <a:p>
            <a:pPr>
              <a:defRPr sz="2000"/>
            </a:pPr>
            <a:r>
              <a:rPr lang="en-US" altLang="en-US" sz="1800" b="1">
                <a:latin typeface="Times New Roman" panose="02020603050405020304" charset="0"/>
                <a:cs typeface="Times New Roman" panose="02020603050405020304" charset="0"/>
              </a:rPr>
              <a:t>Task Planning: </a:t>
            </a:r>
            <a:r>
              <a:rPr lang="en-US" altLang="en-US" sz="1800">
                <a:latin typeface="Times New Roman" panose="02020603050405020304" charset="0"/>
                <a:cs typeface="Times New Roman" panose="02020603050405020304" charset="0"/>
              </a:rPr>
              <a:t>breaks the goal into a sequence of smaller, executable steps.</a:t>
            </a:r>
            <a:endParaRPr lang="en-US" altLang="en-US" sz="1800">
              <a:latin typeface="Times New Roman" panose="02020603050405020304" charset="0"/>
              <a:cs typeface="Times New Roman" panose="02020603050405020304" charset="0"/>
            </a:endParaRPr>
          </a:p>
          <a:p>
            <a:pPr>
              <a:defRPr sz="2000"/>
            </a:pPr>
            <a:r>
              <a:rPr lang="en-US" altLang="en-US" sz="1800" b="1">
                <a:latin typeface="Times New Roman" panose="02020603050405020304" charset="0"/>
                <a:cs typeface="Times New Roman" panose="02020603050405020304" charset="0"/>
              </a:rPr>
              <a:t>Tool Selection: </a:t>
            </a:r>
            <a:r>
              <a:rPr lang="en-US" altLang="en-US" sz="1800">
                <a:latin typeface="Times New Roman" panose="02020603050405020304" charset="0"/>
                <a:cs typeface="Times New Roman" panose="02020603050405020304" charset="0"/>
              </a:rPr>
              <a:t>chooses the appropriate application, API, website, or software needed to perform the task.</a:t>
            </a:r>
            <a:endParaRPr lang="en-US" altLang="en-US" sz="1800">
              <a:latin typeface="Times New Roman" panose="02020603050405020304" charset="0"/>
              <a:cs typeface="Times New Roman" panose="02020603050405020304" charset="0"/>
            </a:endParaRPr>
          </a:p>
          <a:p>
            <a:pPr>
              <a:defRPr sz="2000"/>
            </a:pPr>
            <a:r>
              <a:rPr lang="en-US" altLang="en-US" sz="1800" b="1">
                <a:latin typeface="Times New Roman" panose="02020603050405020304" charset="0"/>
                <a:cs typeface="Times New Roman" panose="02020603050405020304" charset="0"/>
              </a:rPr>
              <a:t>Action Execution :</a:t>
            </a:r>
            <a:r>
              <a:rPr lang="en-US" altLang="en-US" sz="1800">
                <a:latin typeface="Times New Roman" panose="02020603050405020304" charset="0"/>
                <a:cs typeface="Times New Roman" panose="02020603050405020304" charset="0"/>
              </a:rPr>
              <a:t>carries out the planned actions, such as clicking buttons, filling forms, calling APIs, or navigating websites.</a:t>
            </a:r>
            <a:endParaRPr lang="en-US" altLang="en-US" sz="1800">
              <a:latin typeface="Times New Roman" panose="02020603050405020304" charset="0"/>
              <a:cs typeface="Times New Roman" panose="02020603050405020304" charset="0"/>
            </a:endParaRPr>
          </a:p>
          <a:p>
            <a:pPr>
              <a:defRPr sz="2000"/>
            </a:pPr>
            <a:r>
              <a:rPr lang="en-US" altLang="en-US" sz="1800" b="1">
                <a:latin typeface="Times New Roman" panose="02020603050405020304" charset="0"/>
                <a:cs typeface="Times New Roman" panose="02020603050405020304" charset="0"/>
              </a:rPr>
              <a:t>Output: </a:t>
            </a:r>
            <a:r>
              <a:rPr lang="en-US" altLang="en-US" sz="1800">
                <a:latin typeface="Times New Roman" panose="02020603050405020304" charset="0"/>
                <a:cs typeface="Times New Roman" panose="02020603050405020304" charset="0"/>
              </a:rPr>
              <a:t> returns the completed result or asks for confirmation if required.</a:t>
            </a:r>
            <a:endParaRPr lang="en-US" altLang="en-US" sz="1800">
              <a:latin typeface="Times New Roman" panose="02020603050405020304" charset="0"/>
              <a:cs typeface="Times New Roman" panose="02020603050405020304" charset="0"/>
            </a:endParaRPr>
          </a:p>
          <a:p>
            <a:pPr marL="0" indent="0">
              <a:buNone/>
              <a:defRPr sz="2000"/>
            </a:pPr>
            <a:endParaRPr lang="en-US" altLang="en-US" sz="1800">
              <a:latin typeface="Times New Roman" panose="02020603050405020304" charset="0"/>
              <a:cs typeface="Times New Roman" panose="02020603050405020304" charset="0"/>
            </a:endParaRPr>
          </a:p>
          <a:p>
            <a:pPr marL="0" indent="0">
              <a:buNone/>
              <a:defRPr sz="2000"/>
            </a:pPr>
            <a:r>
              <a:rPr lang="en-US" altLang="en-US" sz="1800">
                <a:latin typeface="Times New Roman" panose="02020603050405020304" charset="0"/>
                <a:cs typeface="Times New Roman" panose="02020603050405020304" charset="0"/>
              </a:rPr>
              <a:t>Used in: AI agents such as browser assistants, autonomous task automation systems. </a:t>
            </a:r>
            <a:endParaRPr lang="en-US" altLang="en-US" sz="180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398145"/>
            <a:ext cx="8229600" cy="5870575"/>
          </a:xfrm>
        </p:spPr>
        <p:txBody>
          <a:bodyPr>
            <a:noAutofit/>
          </a:bodyPr>
          <a:lstStyle/>
          <a:p>
            <a:pPr marL="0" indent="0">
              <a:buNone/>
              <a:defRPr sz="2000"/>
            </a:pPr>
            <a:r>
              <a:rPr lang="en-US" altLang="en-US" sz="1400" b="1">
                <a:latin typeface="Times New Roman" panose="02020603050405020304" charset="0"/>
                <a:cs typeface="Times New Roman" panose="02020603050405020304" charset="0"/>
              </a:rPr>
              <a:t>How Does a Large Action Model (LAM) Work?</a:t>
            </a:r>
            <a:endParaRPr lang="en-US" altLang="en-US" sz="1400" b="1">
              <a:latin typeface="Times New Roman" panose="02020603050405020304" charset="0"/>
              <a:cs typeface="Times New Roman" panose="02020603050405020304" charset="0"/>
            </a:endParaRPr>
          </a:p>
          <a:p>
            <a:pPr marL="0" indent="0">
              <a:buNone/>
              <a:defRPr sz="2000"/>
            </a:pPr>
            <a:endParaRPr lang="en-US" altLang="en-US" sz="1400" b="1">
              <a:latin typeface="Times New Roman" panose="02020603050405020304" charset="0"/>
              <a:cs typeface="Times New Roman" panose="02020603050405020304" charset="0"/>
            </a:endParaRPr>
          </a:p>
          <a:p>
            <a:pPr marL="0" indent="0">
              <a:buNone/>
              <a:defRPr sz="2000"/>
            </a:pPr>
            <a:r>
              <a:rPr lang="en-US" altLang="en-US" sz="1400" b="1">
                <a:latin typeface="Times New Roman" panose="02020603050405020304" charset="0"/>
                <a:cs typeface="Times New Roman" panose="02020603050405020304" charset="0"/>
              </a:rPr>
              <a:t>Step-1</a:t>
            </a:r>
            <a:r>
              <a:rPr lang="en-US" altLang="en-US" sz="1400">
                <a:latin typeface="Times New Roman" panose="02020603050405020304" charset="0"/>
                <a:cs typeface="Times New Roman" panose="02020603050405020304" charset="0"/>
              </a:rPr>
              <a:t>: Input Collection : =&gt;The user gives a task or instruction in natural language.</a:t>
            </a:r>
            <a:endParaRPr lang="en-US" altLang="en-US" sz="1400">
              <a:latin typeface="Times New Roman" panose="02020603050405020304" charset="0"/>
              <a:cs typeface="Times New Roman" panose="02020603050405020304" charset="0"/>
            </a:endParaRPr>
          </a:p>
          <a:p>
            <a:pPr marL="0" indent="0">
              <a:buNone/>
              <a:defRPr sz="2000"/>
            </a:pPr>
            <a:endParaRPr lang="en-US" altLang="en-US" sz="1400">
              <a:latin typeface="Times New Roman" panose="02020603050405020304" charset="0"/>
              <a:cs typeface="Times New Roman" panose="02020603050405020304" charset="0"/>
            </a:endParaRPr>
          </a:p>
          <a:p>
            <a:pPr marL="0" indent="0">
              <a:buNone/>
              <a:defRPr sz="2000"/>
            </a:pPr>
            <a:r>
              <a:rPr lang="en-US" altLang="en-US" sz="1400" b="1">
                <a:latin typeface="Times New Roman" panose="02020603050405020304" charset="0"/>
                <a:cs typeface="Times New Roman" panose="02020603050405020304" charset="0"/>
              </a:rPr>
              <a:t>Step-2:</a:t>
            </a:r>
            <a:r>
              <a:rPr lang="en-US" altLang="en-US" sz="1400">
                <a:latin typeface="Times New Roman" panose="02020603050405020304" charset="0"/>
                <a:cs typeface="Times New Roman" panose="02020603050405020304" charset="0"/>
              </a:rPr>
              <a:t> Intent Understanding: =&gt;The LAM first understands what the user wants to do. It extracts the goal and important details from the request</a:t>
            </a:r>
            <a:r>
              <a:rPr lang="en-US" altLang="en-US" sz="1400" u="sng">
                <a:latin typeface="Times New Roman" panose="02020603050405020304" charset="0"/>
                <a:cs typeface="Times New Roman" panose="02020603050405020304" charset="0"/>
              </a:rPr>
              <a:t>.</a:t>
            </a:r>
            <a:endParaRPr lang="en-US" altLang="en-US" sz="1400" u="sng">
              <a:latin typeface="Times New Roman" panose="02020603050405020304" charset="0"/>
              <a:cs typeface="Times New Roman" panose="02020603050405020304" charset="0"/>
            </a:endParaRPr>
          </a:p>
          <a:p>
            <a:pPr marL="0" indent="0">
              <a:buNone/>
              <a:defRPr sz="2000"/>
            </a:pPr>
            <a:r>
              <a:rPr lang="en-US" altLang="en-US" sz="1400" u="sng">
                <a:latin typeface="Times New Roman" panose="02020603050405020304" charset="0"/>
                <a:cs typeface="Times New Roman" panose="02020603050405020304" charset="0"/>
              </a:rPr>
              <a:t> It identifies Actions Like: </a:t>
            </a:r>
            <a:r>
              <a:rPr lang="en-US" altLang="en-US" sz="1400">
                <a:latin typeface="Times New Roman" panose="02020603050405020304" charset="0"/>
                <a:cs typeface="Times New Roman" panose="02020603050405020304" charset="0"/>
              </a:rPr>
              <a:t>Book a flight , From: Bangalore, To: Delhi, Date</a:t>
            </a:r>
            <a:endParaRPr lang="en-US" altLang="en-US" sz="1400">
              <a:latin typeface="Times New Roman" panose="02020603050405020304" charset="0"/>
              <a:cs typeface="Times New Roman" panose="02020603050405020304" charset="0"/>
            </a:endParaRPr>
          </a:p>
          <a:p>
            <a:pPr marL="0" indent="0">
              <a:buNone/>
              <a:defRPr sz="2000"/>
            </a:pPr>
            <a:r>
              <a:rPr lang="en-US" altLang="en-US" sz="1400">
                <a:latin typeface="Times New Roman" panose="02020603050405020304" charset="0"/>
                <a:cs typeface="Times New Roman" panose="02020603050405020304" charset="0"/>
              </a:rPr>
              <a:t>This helps the model determine the user's objective before taking any action.</a:t>
            </a:r>
            <a:endParaRPr lang="en-US" altLang="en-US" sz="1400">
              <a:latin typeface="Times New Roman" panose="02020603050405020304" charset="0"/>
              <a:cs typeface="Times New Roman" panose="02020603050405020304" charset="0"/>
            </a:endParaRPr>
          </a:p>
          <a:p>
            <a:pPr marL="0" indent="0">
              <a:buNone/>
              <a:defRPr sz="2000"/>
            </a:pPr>
            <a:endParaRPr lang="en-US" altLang="en-US" sz="1400">
              <a:latin typeface="Times New Roman" panose="02020603050405020304" charset="0"/>
              <a:cs typeface="Times New Roman" panose="02020603050405020304" charset="0"/>
            </a:endParaRPr>
          </a:p>
          <a:p>
            <a:pPr marL="0" indent="0">
              <a:buNone/>
              <a:defRPr sz="2000"/>
            </a:pPr>
            <a:r>
              <a:rPr lang="en-US" altLang="en-US" sz="1400" b="1">
                <a:latin typeface="Times New Roman" panose="02020603050405020304" charset="0"/>
                <a:cs typeface="Times New Roman" panose="02020603050405020304" charset="0"/>
              </a:rPr>
              <a:t>Step-3: </a:t>
            </a:r>
            <a:r>
              <a:rPr lang="en-US" altLang="en-US" sz="1400">
                <a:latin typeface="Times New Roman" panose="02020603050405020304" charset="0"/>
                <a:cs typeface="Times New Roman" panose="02020603050405020304" charset="0"/>
              </a:rPr>
              <a:t>Task Planning: The LAM breaks the user's goal into a sequence of smaller tasks that can be executed.</a:t>
            </a:r>
            <a:endParaRPr lang="en-US" altLang="en-US" sz="1400">
              <a:latin typeface="Times New Roman" panose="02020603050405020304" charset="0"/>
              <a:cs typeface="Times New Roman" panose="02020603050405020304" charset="0"/>
            </a:endParaRPr>
          </a:p>
          <a:p>
            <a:pPr marL="0" indent="0">
              <a:buNone/>
              <a:defRPr sz="2000"/>
            </a:pPr>
            <a:r>
              <a:rPr lang="en-US" altLang="en-US" sz="1400" u="sng">
                <a:latin typeface="Times New Roman" panose="02020603050405020304" charset="0"/>
                <a:cs typeface="Times New Roman" panose="02020603050405020304" charset="0"/>
              </a:rPr>
              <a:t>Tools like: </a:t>
            </a:r>
            <a:r>
              <a:rPr lang="en-US" altLang="en-US" sz="1400">
                <a:latin typeface="Times New Roman" panose="02020603050405020304" charset="0"/>
                <a:cs typeface="Times New Roman" panose="02020603050405020304" charset="0"/>
              </a:rPr>
              <a:t>Open a flight booking website or app, Enter the departure city, Enter the destination city, Select the travel date, Search for available flights, Compare the available options.</a:t>
            </a:r>
            <a:endParaRPr lang="en-US" altLang="en-US" sz="1400">
              <a:latin typeface="Times New Roman" panose="02020603050405020304" charset="0"/>
              <a:cs typeface="Times New Roman" panose="02020603050405020304" charset="0"/>
            </a:endParaRPr>
          </a:p>
          <a:p>
            <a:pPr marL="0" indent="0">
              <a:buNone/>
              <a:defRPr sz="2000"/>
            </a:pPr>
            <a:endParaRPr lang="en-US" altLang="en-US" sz="1400">
              <a:latin typeface="Times New Roman" panose="02020603050405020304" charset="0"/>
              <a:cs typeface="Times New Roman" panose="02020603050405020304" charset="0"/>
            </a:endParaRPr>
          </a:p>
          <a:p>
            <a:pPr marL="0" indent="0">
              <a:buNone/>
              <a:defRPr sz="2000"/>
            </a:pPr>
            <a:r>
              <a:rPr lang="en-US" altLang="en-US" sz="1400" b="1">
                <a:latin typeface="Times New Roman" panose="02020603050405020304" charset="0"/>
                <a:cs typeface="Times New Roman" panose="02020603050405020304" charset="0"/>
              </a:rPr>
              <a:t>Step-4: To</a:t>
            </a:r>
            <a:r>
              <a:rPr lang="en-US" altLang="en-US" sz="1400">
                <a:latin typeface="Times New Roman" panose="02020603050405020304" charset="0"/>
                <a:cs typeface="Times New Roman" panose="02020603050405020304" charset="0"/>
              </a:rPr>
              <a:t>ol Selection and Action Execution : The LAM determines which tools are needed to complete the task.</a:t>
            </a:r>
            <a:endParaRPr lang="en-US" altLang="en-US" sz="1400">
              <a:latin typeface="Times New Roman" panose="02020603050405020304" charset="0"/>
              <a:cs typeface="Times New Roman" panose="02020603050405020304" charset="0"/>
            </a:endParaRPr>
          </a:p>
          <a:p>
            <a:pPr marL="0" indent="0">
              <a:buNone/>
              <a:defRPr sz="2000"/>
            </a:pPr>
            <a:r>
              <a:rPr lang="en-US" altLang="en-US" sz="1400">
                <a:latin typeface="Times New Roman" panose="02020603050405020304" charset="0"/>
                <a:cs typeface="Times New Roman" panose="02020603050405020304" charset="0"/>
              </a:rPr>
              <a:t>Like Mobile applications, Databases, websites.</a:t>
            </a:r>
            <a:endParaRPr lang="en-US" altLang="en-US" sz="1400">
              <a:latin typeface="Times New Roman" panose="02020603050405020304" charset="0"/>
              <a:cs typeface="Times New Roman" panose="02020603050405020304" charset="0"/>
            </a:endParaRPr>
          </a:p>
          <a:p>
            <a:pPr marL="0" indent="0">
              <a:buNone/>
              <a:defRPr sz="2000"/>
            </a:pPr>
            <a:endParaRPr lang="en-US" altLang="en-US" sz="1400">
              <a:latin typeface="Times New Roman" panose="02020603050405020304" charset="0"/>
              <a:cs typeface="Times New Roman" panose="02020603050405020304" charset="0"/>
            </a:endParaRPr>
          </a:p>
          <a:p>
            <a:pPr marL="0" indent="0">
              <a:buNone/>
              <a:defRPr sz="2000"/>
            </a:pPr>
            <a:r>
              <a:rPr lang="en-US" altLang="en-US" sz="1400">
                <a:latin typeface="Times New Roman" panose="02020603050405020304" charset="0"/>
                <a:cs typeface="Times New Roman" panose="02020603050405020304" charset="0"/>
              </a:rPr>
              <a:t>The model then executes each planned action by interacting with the selected tools.</a:t>
            </a:r>
            <a:endParaRPr lang="en-US" altLang="en-US" sz="1400">
              <a:latin typeface="Times New Roman" panose="02020603050405020304" charset="0"/>
              <a:cs typeface="Times New Roman" panose="02020603050405020304" charset="0"/>
            </a:endParaRPr>
          </a:p>
          <a:p>
            <a:pPr marL="0" indent="0">
              <a:buNone/>
              <a:defRPr sz="2000"/>
            </a:pPr>
            <a:r>
              <a:rPr lang="en-US" altLang="en-US" sz="1400" u="sng">
                <a:latin typeface="Times New Roman" panose="02020603050405020304" charset="0"/>
                <a:cs typeface="Times New Roman" panose="02020603050405020304" charset="0"/>
              </a:rPr>
              <a:t>Examples of actions: </a:t>
            </a:r>
            <a:r>
              <a:rPr lang="en-US" altLang="en-US" sz="1400">
                <a:latin typeface="Times New Roman" panose="02020603050405020304" charset="0"/>
                <a:cs typeface="Times New Roman" panose="02020603050405020304" charset="0"/>
              </a:rPr>
              <a:t>Opening a website, Clicking buttons, Filling forms , Calling APIs, Searching for information, Downloading or uploading files. </a:t>
            </a:r>
            <a:endParaRPr lang="en-US" altLang="en-US" sz="1400">
              <a:latin typeface="Times New Roman" panose="02020603050405020304" charset="0"/>
              <a:cs typeface="Times New Roman" panose="02020603050405020304" charset="0"/>
            </a:endParaRPr>
          </a:p>
          <a:p>
            <a:pPr marL="0" indent="0">
              <a:buNone/>
              <a:defRPr sz="2000"/>
            </a:pPr>
            <a:r>
              <a:rPr lang="en-US" altLang="en-US" sz="1400">
                <a:latin typeface="Times New Roman" panose="02020603050405020304" charset="0"/>
                <a:cs typeface="Times New Roman" panose="02020603050405020304" charset="0"/>
              </a:rPr>
              <a:t>During execution, the model checks whether each step is successful. If an error occurs, it may retry the action, choose another method, or ask the user for additional information.</a:t>
            </a:r>
            <a:endParaRPr lang="en-US" altLang="en-US" sz="1400">
              <a:latin typeface="Times New Roman" panose="02020603050405020304" charset="0"/>
              <a:cs typeface="Times New Roman" panose="02020603050405020304" charset="0"/>
            </a:endParaRPr>
          </a:p>
          <a:p>
            <a:pPr marL="0" indent="0">
              <a:buNone/>
              <a:defRPr sz="2000"/>
            </a:pPr>
            <a:endParaRPr lang="en-US" altLang="en-US" sz="1400">
              <a:latin typeface="Times New Roman" panose="02020603050405020304" charset="0"/>
              <a:cs typeface="Times New Roman" panose="02020603050405020304" charset="0"/>
            </a:endParaRPr>
          </a:p>
          <a:p>
            <a:pPr marL="0" indent="0">
              <a:buNone/>
              <a:defRPr sz="2000"/>
            </a:pPr>
            <a:r>
              <a:rPr lang="en-US" altLang="en-US" sz="1400" b="1">
                <a:latin typeface="Times New Roman" panose="02020603050405020304" charset="0"/>
                <a:cs typeface="Times New Roman" panose="02020603050405020304" charset="0"/>
              </a:rPr>
              <a:t>Step-5: </a:t>
            </a:r>
            <a:r>
              <a:rPr lang="en-US" altLang="en-US" sz="1400">
                <a:latin typeface="Times New Roman" panose="02020603050405020304" charset="0"/>
                <a:cs typeface="Times New Roman" panose="02020603050405020304" charset="0"/>
              </a:rPr>
              <a:t>Final Output : After completing all actions, the LAM returns the result to the user.</a:t>
            </a:r>
            <a:endParaRPr lang="en-US" altLang="en-US" sz="140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274955"/>
            <a:ext cx="8229600" cy="695325"/>
          </a:xfrm>
        </p:spPr>
        <p:txBody>
          <a:bodyPr>
            <a:normAutofit fontScale="90000"/>
          </a:bodyPr>
          <a:lstStyle/>
          <a:p>
            <a:r>
              <a:t>M</a:t>
            </a:r>
            <a:r>
              <a:rPr lang="en-US"/>
              <a:t>oE</a:t>
            </a:r>
            <a:r>
              <a:t> Workflow</a:t>
            </a:r>
          </a:p>
        </p:txBody>
      </p:sp>
      <p:sp>
        <p:nvSpPr>
          <p:cNvPr id="3" name="Content Placeholder 2"/>
          <p:cNvSpPr>
            <a:spLocks noGrp="1"/>
          </p:cNvSpPr>
          <p:nvPr>
            <p:ph idx="1"/>
          </p:nvPr>
        </p:nvSpPr>
        <p:spPr>
          <a:xfrm>
            <a:off x="457200" y="1417955"/>
            <a:ext cx="8229600" cy="5086350"/>
          </a:xfrm>
        </p:spPr>
        <p:txBody>
          <a:bodyPr>
            <a:normAutofit/>
          </a:bodyPr>
          <a:lstStyle/>
          <a:p>
            <a:pPr marL="0" indent="0">
              <a:buNone/>
              <a:defRPr sz="2000"/>
            </a:pPr>
            <a:r>
              <a:rPr lang="en-US" altLang="en-US" sz="1600" b="1">
                <a:latin typeface="Times New Roman" panose="02020603050405020304" charset="0"/>
                <a:cs typeface="Times New Roman" panose="02020603050405020304" charset="0"/>
              </a:rPr>
              <a:t>MoE (Mixture of Experts):</a:t>
            </a:r>
            <a:endParaRPr lang="en-US" altLang="en-US" sz="1600" b="1">
              <a:latin typeface="Times New Roman" panose="02020603050405020304" charset="0"/>
              <a:cs typeface="Times New Roman" panose="02020603050405020304" charset="0"/>
            </a:endParaRPr>
          </a:p>
          <a:p>
            <a:pPr marL="0" indent="0">
              <a:buNone/>
              <a:defRPr sz="2000"/>
            </a:pPr>
            <a:r>
              <a:rPr lang="en-US" altLang="en-US" sz="1400">
                <a:latin typeface="Times New Roman" panose="02020603050405020304" charset="0"/>
                <a:cs typeface="Times New Roman" panose="02020603050405020304" charset="0"/>
              </a:rPr>
              <a:t>A Mixture of Experts (MoE) is a neural network architecture that improves the efficiency and scalability of large AI models by replacing a single Feed-Forward Network (FFN) with multiple smaller expert networks. Instead of activating every expert for every input, a router (gating network) selects only the most relevant experts to process each token</a:t>
            </a:r>
            <a:r>
              <a:rPr lang="en-US" altLang="en-US" sz="1400" b="1">
                <a:latin typeface="Times New Roman" panose="02020603050405020304" charset="0"/>
                <a:cs typeface="Times New Roman" panose="02020603050405020304" charset="0"/>
              </a:rPr>
              <a:t>.</a:t>
            </a:r>
            <a:endParaRPr lang="en-US" altLang="en-US" sz="1400" b="1">
              <a:latin typeface="Times New Roman" panose="02020603050405020304" charset="0"/>
              <a:cs typeface="Times New Roman" panose="02020603050405020304" charset="0"/>
            </a:endParaRPr>
          </a:p>
          <a:p>
            <a:pPr marL="0" indent="0">
              <a:buNone/>
              <a:defRPr sz="2000"/>
            </a:pPr>
            <a:endParaRPr lang="en-US" altLang="en-US" sz="1400" b="1">
              <a:latin typeface="Times New Roman" panose="02020603050405020304" charset="0"/>
              <a:cs typeface="Times New Roman" panose="02020603050405020304" charset="0"/>
            </a:endParaRPr>
          </a:p>
          <a:p>
            <a:pPr marL="0" indent="0">
              <a:buNone/>
              <a:defRPr sz="2000"/>
            </a:pPr>
            <a:r>
              <a:rPr lang="en-US" altLang="en-US" sz="1400" b="1">
                <a:latin typeface="Times New Roman" panose="02020603050405020304" charset="0"/>
                <a:cs typeface="Times New Roman" panose="02020603050405020304" charset="0"/>
              </a:rPr>
              <a:t>Expert</a:t>
            </a:r>
            <a:r>
              <a:rPr lang="en-US" altLang="en-US" sz="1400">
                <a:latin typeface="Times New Roman" panose="02020603050405020304" charset="0"/>
                <a:cs typeface="Times New Roman" panose="02020603050405020304" charset="0"/>
              </a:rPr>
              <a:t>: An expert is simply a Feed-Forward Neural Network (FFN) inside a transformer layer.</a:t>
            </a:r>
            <a:endParaRPr lang="en-US" altLang="en-US" sz="1400">
              <a:latin typeface="Times New Roman" panose="02020603050405020304" charset="0"/>
              <a:cs typeface="Times New Roman" panose="02020603050405020304" charset="0"/>
            </a:endParaRPr>
          </a:p>
          <a:p>
            <a:pPr marL="0" indent="0">
              <a:buNone/>
              <a:defRPr sz="2000"/>
            </a:pPr>
            <a:endParaRPr lang="en-US" altLang="en-US" sz="1400">
              <a:latin typeface="Times New Roman" panose="02020603050405020304" charset="0"/>
              <a:cs typeface="Times New Roman" panose="02020603050405020304" charset="0"/>
            </a:endParaRPr>
          </a:p>
          <a:p>
            <a:pPr marL="0" indent="0">
              <a:buNone/>
              <a:defRPr sz="2000"/>
            </a:pPr>
            <a:r>
              <a:rPr lang="en-US" altLang="en-US" sz="1400">
                <a:latin typeface="Times New Roman" panose="02020603050405020304" charset="0"/>
                <a:cs typeface="Times New Roman" panose="02020603050405020304" charset="0"/>
              </a:rPr>
              <a:t>A </a:t>
            </a:r>
            <a:r>
              <a:rPr lang="en-US" altLang="en-US" sz="1400" b="1">
                <a:latin typeface="Times New Roman" panose="02020603050405020304" charset="0"/>
                <a:cs typeface="Times New Roman" panose="02020603050405020304" charset="0"/>
              </a:rPr>
              <a:t>Feed-Forward Network </a:t>
            </a:r>
            <a:r>
              <a:rPr lang="en-US" altLang="en-US" sz="1400">
                <a:latin typeface="Times New Roman" panose="02020603050405020304" charset="0"/>
                <a:cs typeface="Times New Roman" panose="02020603050405020304" charset="0"/>
              </a:rPr>
              <a:t>(FFN) is the foundational architecture of artificial neural networks, where information flows in a single direction—from inputs to outputs, without loops.</a:t>
            </a:r>
            <a:endParaRPr lang="en-US" altLang="en-US" sz="1400">
              <a:latin typeface="Times New Roman" panose="02020603050405020304" charset="0"/>
              <a:cs typeface="Times New Roman" panose="02020603050405020304" charset="0"/>
            </a:endParaRPr>
          </a:p>
          <a:p>
            <a:pPr marL="0" indent="0">
              <a:buNone/>
              <a:defRPr sz="2000"/>
            </a:pPr>
            <a:endParaRPr lang="en-US" altLang="en-US" sz="1400">
              <a:latin typeface="Times New Roman" panose="02020603050405020304" charset="0"/>
              <a:cs typeface="Times New Roman" panose="02020603050405020304" charset="0"/>
            </a:endParaRPr>
          </a:p>
          <a:p>
            <a:pPr marL="0" indent="0">
              <a:buNone/>
              <a:defRPr sz="2000"/>
            </a:pPr>
            <a:r>
              <a:rPr lang="en-US" altLang="en-US" sz="1400" b="1">
                <a:latin typeface="Times New Roman" panose="02020603050405020304" charset="0"/>
                <a:cs typeface="Times New Roman" panose="02020603050405020304" charset="0"/>
              </a:rPr>
              <a:t>Working:    </a:t>
            </a:r>
            <a:r>
              <a:rPr lang="en-US" altLang="en-US" sz="1400">
                <a:latin typeface="Times New Roman" panose="02020603050405020304" charset="0"/>
                <a:cs typeface="Times New Roman" panose="02020603050405020304" charset="0"/>
              </a:rPr>
              <a:t> </a:t>
            </a:r>
            <a:endParaRPr lang="en-US" altLang="en-US" sz="1400">
              <a:latin typeface="Times New Roman" panose="02020603050405020304" charset="0"/>
              <a:cs typeface="Times New Roman" panose="02020603050405020304" charset="0"/>
            </a:endParaRPr>
          </a:p>
          <a:p>
            <a:pPr marL="0" indent="0">
              <a:buNone/>
              <a:defRPr sz="2000"/>
            </a:pPr>
            <a:r>
              <a:rPr lang="en-US" altLang="en-US" sz="1400">
                <a:latin typeface="Times New Roman" panose="02020603050405020304" charset="0"/>
                <a:cs typeface="Times New Roman" panose="02020603050405020304" charset="0"/>
              </a:rPr>
              <a:t> User Input  =&gt;Tokenization </a:t>
            </a:r>
            <a:r>
              <a:rPr lang="en-US" altLang="en-US" sz="1400">
                <a:latin typeface="Times New Roman" panose="02020603050405020304" charset="0"/>
                <a:cs typeface="Times New Roman" panose="02020603050405020304" charset="0"/>
                <a:sym typeface="+mn-ea"/>
              </a:rPr>
              <a:t> =&gt; </a:t>
            </a:r>
            <a:r>
              <a:rPr lang="en-US" altLang="en-US" sz="1400">
                <a:latin typeface="Times New Roman" panose="02020603050405020304" charset="0"/>
                <a:cs typeface="Times New Roman" panose="02020603050405020304" charset="0"/>
              </a:rPr>
              <a:t>Embeddings </a:t>
            </a:r>
            <a:r>
              <a:rPr lang="en-US" altLang="en-US" sz="1400">
                <a:latin typeface="Times New Roman" panose="02020603050405020304" charset="0"/>
                <a:cs typeface="Times New Roman" panose="02020603050405020304" charset="0"/>
                <a:sym typeface="+mn-ea"/>
              </a:rPr>
              <a:t> =&gt; </a:t>
            </a:r>
            <a:r>
              <a:rPr lang="en-US" altLang="en-US" sz="1400">
                <a:latin typeface="Times New Roman" panose="02020603050405020304" charset="0"/>
                <a:cs typeface="Times New Roman" panose="02020603050405020304" charset="0"/>
              </a:rPr>
              <a:t>Initial Transformer Layers  </a:t>
            </a:r>
            <a:r>
              <a:rPr lang="en-US" altLang="en-US" sz="1400">
                <a:latin typeface="Times New Roman" panose="02020603050405020304" charset="0"/>
                <a:cs typeface="Times New Roman" panose="02020603050405020304" charset="0"/>
                <a:sym typeface="+mn-ea"/>
              </a:rPr>
              <a:t> =&gt; </a:t>
            </a:r>
            <a:r>
              <a:rPr lang="en-US" altLang="en-US" sz="1400">
                <a:latin typeface="Times New Roman" panose="02020603050405020304" charset="0"/>
                <a:cs typeface="Times New Roman" panose="02020603050405020304" charset="0"/>
              </a:rPr>
              <a:t>Router (Gating Network) </a:t>
            </a:r>
            <a:r>
              <a:rPr lang="en-US" altLang="en-US" sz="1400">
                <a:latin typeface="Times New Roman" panose="02020603050405020304" charset="0"/>
                <a:cs typeface="Times New Roman" panose="02020603050405020304" charset="0"/>
                <a:sym typeface="+mn-ea"/>
              </a:rPr>
              <a:t> =&gt; </a:t>
            </a:r>
            <a:r>
              <a:rPr lang="en-US" altLang="en-US" sz="1400">
                <a:latin typeface="Times New Roman" panose="02020603050405020304" charset="0"/>
                <a:cs typeface="Times New Roman" panose="02020603050405020304" charset="0"/>
              </a:rPr>
              <a:t>Select Top-1 / Top-2 Experts  </a:t>
            </a:r>
            <a:r>
              <a:rPr lang="en-US" altLang="en-US" sz="1400">
                <a:latin typeface="Times New Roman" panose="02020603050405020304" charset="0"/>
                <a:cs typeface="Times New Roman" panose="02020603050405020304" charset="0"/>
                <a:sym typeface="+mn-ea"/>
              </a:rPr>
              <a:t> =&gt; </a:t>
            </a:r>
            <a:r>
              <a:rPr lang="en-US" altLang="en-US" sz="1400">
                <a:latin typeface="Times New Roman" panose="02020603050405020304" charset="0"/>
                <a:cs typeface="Times New Roman" panose="02020603050405020304" charset="0"/>
              </a:rPr>
              <a:t> Selected Experts Process Tokens </a:t>
            </a:r>
            <a:r>
              <a:rPr lang="en-US" altLang="en-US" sz="1400">
                <a:latin typeface="Times New Roman" panose="02020603050405020304" charset="0"/>
                <a:cs typeface="Times New Roman" panose="02020603050405020304" charset="0"/>
                <a:sym typeface="+mn-ea"/>
              </a:rPr>
              <a:t> =&gt;</a:t>
            </a:r>
            <a:r>
              <a:rPr lang="en-US" altLang="en-US" sz="1400">
                <a:latin typeface="Times New Roman" panose="02020603050405020304" charset="0"/>
                <a:cs typeface="Times New Roman" panose="02020603050405020304" charset="0"/>
              </a:rPr>
              <a:t> Combine Expert Outputs </a:t>
            </a:r>
            <a:r>
              <a:rPr lang="en-US" altLang="en-US" sz="1400">
                <a:latin typeface="Times New Roman" panose="02020603050405020304" charset="0"/>
                <a:cs typeface="Times New Roman" panose="02020603050405020304" charset="0"/>
                <a:sym typeface="+mn-ea"/>
              </a:rPr>
              <a:t> =&gt; </a:t>
            </a:r>
            <a:r>
              <a:rPr lang="en-US" altLang="en-US" sz="1400">
                <a:latin typeface="Times New Roman" panose="02020603050405020304" charset="0"/>
                <a:cs typeface="Times New Roman" panose="02020603050405020304" charset="0"/>
              </a:rPr>
              <a:t> Remaining Transformer Layers </a:t>
            </a:r>
            <a:endParaRPr lang="en-US" altLang="en-US" sz="140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3"/>
          <p:cNvSpPr/>
          <p:nvPr>
            <p:ph idx="1"/>
          </p:nvPr>
        </p:nvSpPr>
        <p:spPr>
          <a:xfrm>
            <a:off x="457200" y="242570"/>
            <a:ext cx="8229600" cy="6204585"/>
          </a:xfrm>
        </p:spPr>
        <p:txBody>
          <a:bodyPr>
            <a:normAutofit lnSpcReduction="10000"/>
          </a:bodyPr>
          <a:p>
            <a:pPr marL="0" indent="0">
              <a:buNone/>
            </a:pPr>
            <a:r>
              <a:rPr lang="en-US" altLang="en-US" sz="1600" b="1">
                <a:latin typeface="Times New Roman" panose="02020603050405020304" charset="0"/>
                <a:cs typeface="Times New Roman" panose="02020603050405020304" charset="0"/>
              </a:rPr>
              <a:t>How Does a Mixture of Experts (MoE) Model Work?</a:t>
            </a:r>
            <a:endParaRPr lang="en-US" altLang="en-US" sz="1600" b="1">
              <a:latin typeface="Times New Roman" panose="02020603050405020304" charset="0"/>
              <a:cs typeface="Times New Roman" panose="02020603050405020304" charset="0"/>
            </a:endParaRPr>
          </a:p>
          <a:p>
            <a:pPr marL="0" indent="0">
              <a:buNone/>
            </a:pPr>
            <a:endParaRPr lang="en-US" altLang="en-US" sz="1600" b="1">
              <a:latin typeface="Times New Roman" panose="02020603050405020304" charset="0"/>
              <a:cs typeface="Times New Roman" panose="02020603050405020304" charset="0"/>
            </a:endParaRPr>
          </a:p>
          <a:p>
            <a:pPr marL="0" indent="0">
              <a:buNone/>
            </a:pPr>
            <a:r>
              <a:rPr lang="en-US" altLang="en-US" sz="1400" b="1">
                <a:latin typeface="Times New Roman" panose="02020603050405020304" charset="0"/>
                <a:cs typeface="Times New Roman" panose="02020603050405020304" charset="0"/>
              </a:rPr>
              <a:t>Step-1: Input Collection: </a:t>
            </a:r>
            <a:r>
              <a:rPr lang="en-US" altLang="en-US" sz="1400">
                <a:latin typeface="Times New Roman" panose="02020603050405020304" charset="0"/>
                <a:cs typeface="Times New Roman" panose="02020603050405020304" charset="0"/>
              </a:rPr>
              <a:t>The user enters a prompt or question.</a:t>
            </a:r>
            <a:endParaRPr lang="en-US" altLang="en-US" sz="1400">
              <a:latin typeface="Times New Roman" panose="02020603050405020304" charset="0"/>
              <a:cs typeface="Times New Roman" panose="02020603050405020304" charset="0"/>
            </a:endParaRPr>
          </a:p>
          <a:p>
            <a:pPr marL="0" indent="0">
              <a:buNone/>
            </a:pPr>
            <a:endParaRPr lang="en-US" altLang="en-US" sz="1400">
              <a:latin typeface="Times New Roman" panose="02020603050405020304" charset="0"/>
              <a:cs typeface="Times New Roman" panose="02020603050405020304" charset="0"/>
            </a:endParaRPr>
          </a:p>
          <a:p>
            <a:pPr marL="0" indent="0">
              <a:buNone/>
            </a:pPr>
            <a:r>
              <a:rPr lang="en-US" altLang="en-US" sz="1400" b="1">
                <a:latin typeface="Times New Roman" panose="02020603050405020304" charset="0"/>
                <a:cs typeface="Times New Roman" panose="02020603050405020304" charset="0"/>
              </a:rPr>
              <a:t>Step-2</a:t>
            </a:r>
            <a:r>
              <a:rPr lang="en-US" altLang="en-US" sz="1400">
                <a:latin typeface="Times New Roman" panose="02020603050405020304" charset="0"/>
                <a:cs typeface="Times New Roman" panose="02020603050405020304" charset="0"/>
              </a:rPr>
              <a:t>:</a:t>
            </a:r>
            <a:r>
              <a:rPr lang="en-US" altLang="en-US" sz="1400" b="1">
                <a:latin typeface="Times New Roman" panose="02020603050405020304" charset="0"/>
                <a:cs typeface="Times New Roman" panose="02020603050405020304" charset="0"/>
              </a:rPr>
              <a:t> Tokenization:</a:t>
            </a:r>
            <a:r>
              <a:rPr lang="en-US" altLang="en-US" sz="1400">
                <a:latin typeface="Times New Roman" panose="02020603050405020304" charset="0"/>
                <a:cs typeface="Times New Roman" panose="02020603050405020304" charset="0"/>
              </a:rPr>
              <a:t> The MoE model does not read words like humans do. It first converts the sentence into tokens (small pieces of text).</a:t>
            </a:r>
            <a:endParaRPr lang="en-US" altLang="en-US" sz="1400">
              <a:latin typeface="Times New Roman" panose="02020603050405020304" charset="0"/>
              <a:cs typeface="Times New Roman" panose="02020603050405020304" charset="0"/>
            </a:endParaRPr>
          </a:p>
          <a:p>
            <a:pPr marL="0" indent="0">
              <a:buNone/>
            </a:pPr>
            <a:endParaRPr lang="en-US" altLang="en-US" sz="1400">
              <a:latin typeface="Times New Roman" panose="02020603050405020304" charset="0"/>
              <a:cs typeface="Times New Roman" panose="02020603050405020304" charset="0"/>
            </a:endParaRPr>
          </a:p>
          <a:p>
            <a:pPr marL="0" indent="0">
              <a:buNone/>
            </a:pPr>
            <a:r>
              <a:rPr lang="en-US" altLang="en-US" sz="1400" b="1">
                <a:latin typeface="Times New Roman" panose="02020603050405020304" charset="0"/>
                <a:cs typeface="Times New Roman" panose="02020603050405020304" charset="0"/>
              </a:rPr>
              <a:t>Step-3: Convert Tokens into Vectors (Embeddings) : </a:t>
            </a:r>
            <a:r>
              <a:rPr lang="en-US" altLang="en-US" sz="1400">
                <a:latin typeface="Times New Roman" panose="02020603050405020304" charset="0"/>
                <a:cs typeface="Times New Roman" panose="02020603050405020304" charset="0"/>
              </a:rPr>
              <a:t>The tokens are converted into embeddings (vectors).</a:t>
            </a:r>
            <a:endParaRPr lang="en-US" altLang="en-US" sz="1400">
              <a:latin typeface="Times New Roman" panose="02020603050405020304" charset="0"/>
              <a:cs typeface="Times New Roman" panose="02020603050405020304" charset="0"/>
            </a:endParaRPr>
          </a:p>
          <a:p>
            <a:pPr marL="0" indent="0">
              <a:buNone/>
            </a:pPr>
            <a:r>
              <a:rPr lang="en-US" altLang="en-US" sz="1400" u="sng">
                <a:latin typeface="Times New Roman" panose="02020603050405020304" charset="0"/>
                <a:cs typeface="Times New Roman" panose="02020603050405020304" charset="0"/>
              </a:rPr>
              <a:t>Embedding:</a:t>
            </a:r>
            <a:r>
              <a:rPr lang="en-US" altLang="en-US" sz="1400">
                <a:latin typeface="Times New Roman" panose="02020603050405020304" charset="0"/>
                <a:cs typeface="Times New Roman" panose="02020603050405020304" charset="0"/>
              </a:rPr>
              <a:t> An embedding is a list of numbers that represents the meaning of a word or token. Tokens with similar meanings have similar vectors. This helps the model understand the relationships between words.</a:t>
            </a:r>
            <a:endParaRPr lang="en-US" altLang="en-US" sz="1400">
              <a:latin typeface="Times New Roman" panose="02020603050405020304" charset="0"/>
              <a:cs typeface="Times New Roman" panose="02020603050405020304" charset="0"/>
            </a:endParaRPr>
          </a:p>
          <a:p>
            <a:pPr marL="0" indent="0">
              <a:buNone/>
            </a:pPr>
            <a:endParaRPr lang="en-US" altLang="en-US" sz="1400">
              <a:latin typeface="Times New Roman" panose="02020603050405020304" charset="0"/>
              <a:cs typeface="Times New Roman" panose="02020603050405020304" charset="0"/>
            </a:endParaRPr>
          </a:p>
          <a:p>
            <a:pPr marL="0" indent="0">
              <a:buNone/>
            </a:pPr>
            <a:r>
              <a:rPr lang="en-US" altLang="en-US" sz="1400" b="1">
                <a:latin typeface="Times New Roman" panose="02020603050405020304" charset="0"/>
                <a:cs typeface="Times New Roman" panose="02020603050405020304" charset="0"/>
              </a:rPr>
              <a:t>Step-4: </a:t>
            </a:r>
            <a:r>
              <a:rPr lang="en-US" altLang="en-US" sz="1400">
                <a:latin typeface="Times New Roman" panose="02020603050405020304" charset="0"/>
                <a:cs typeface="Times New Roman" panose="02020603050405020304" charset="0"/>
              </a:rPr>
              <a:t>Transformer + Router (Gating Network) : The Transformer first processes all token embeddings using self-attention to understand the context of the sentence.</a:t>
            </a:r>
            <a:endParaRPr lang="en-US" altLang="en-US" sz="1400">
              <a:latin typeface="Times New Roman" panose="02020603050405020304" charset="0"/>
              <a:cs typeface="Times New Roman" panose="02020603050405020304" charset="0"/>
            </a:endParaRPr>
          </a:p>
          <a:p>
            <a:pPr marL="0" indent="0">
              <a:buNone/>
            </a:pP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Then, the Router (Gating Network) analyzes each token and decides which expert(s) are best suited to process it.</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Instead of sending every token to all experts, the router selects only the Top-1 or Top-2 experts based on their scores.</a:t>
            </a:r>
            <a:endParaRPr lang="en-US" altLang="en-US" sz="1400">
              <a:latin typeface="Times New Roman" panose="02020603050405020304" charset="0"/>
              <a:cs typeface="Times New Roman" panose="02020603050405020304" charset="0"/>
            </a:endParaRPr>
          </a:p>
          <a:p>
            <a:pPr marL="0" indent="0">
              <a:buNone/>
            </a:pPr>
            <a:endParaRPr lang="en-US" altLang="en-US" sz="1400">
              <a:latin typeface="Times New Roman" panose="02020603050405020304" charset="0"/>
              <a:cs typeface="Times New Roman" panose="02020603050405020304" charset="0"/>
            </a:endParaRPr>
          </a:p>
          <a:p>
            <a:pPr marL="0" indent="0">
              <a:buNone/>
            </a:pPr>
            <a:r>
              <a:rPr lang="en-US" altLang="en-US" sz="1400" b="1">
                <a:latin typeface="Times New Roman" panose="02020603050405020304" charset="0"/>
                <a:cs typeface="Times New Roman" panose="02020603050405020304" charset="0"/>
              </a:rPr>
              <a:t>Step-5:</a:t>
            </a:r>
            <a:r>
              <a:rPr lang="en-US" altLang="en-US" sz="1400">
                <a:latin typeface="Times New Roman" panose="02020603050405020304" charset="0"/>
                <a:cs typeface="Times New Roman" panose="02020603050405020304" charset="0"/>
              </a:rPr>
              <a:t> Response Generation: The combined output from the selected experts is passed through the remaining transformer layers. The model then calculates the probability of all possible next tokens and predicts the most likely next token.</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The selected token is added to the input, and the process repeats until the complete response is generated</a:t>
            </a:r>
            <a:endParaRPr lang="en-US" altLang="en-US" sz="1400">
              <a:latin typeface="Times New Roman" panose="02020603050405020304" charset="0"/>
              <a:cs typeface="Times New Roman" panose="02020603050405020304" charset="0"/>
            </a:endParaRPr>
          </a:p>
          <a:p>
            <a:pPr marL="0" indent="0">
              <a:buNone/>
            </a:pPr>
            <a:endParaRPr lang="en-US" altLang="en-US" sz="1400">
              <a:latin typeface="Times New Roman" panose="02020603050405020304" charset="0"/>
              <a:cs typeface="Times New Roman" panose="02020603050405020304" charset="0"/>
            </a:endParaRPr>
          </a:p>
          <a:p>
            <a:pPr marL="0" indent="0">
              <a:buNone/>
            </a:pPr>
            <a:r>
              <a:rPr lang="en-US" altLang="en-US" sz="1400" b="1">
                <a:latin typeface="Times New Roman" panose="02020603050405020304" charset="0"/>
                <a:cs typeface="Times New Roman" panose="02020603050405020304" charset="0"/>
              </a:rPr>
              <a:t>Step-6: </a:t>
            </a:r>
            <a:r>
              <a:rPr lang="en-US" altLang="en-US" sz="1400">
                <a:latin typeface="Times New Roman" panose="02020603050405020304" charset="0"/>
                <a:cs typeface="Times New Roman" panose="02020603050405020304" charset="0"/>
              </a:rPr>
              <a:t>Final Output: Once the model predicts an end-of-sequence (EOS) token, it stops generating and sends the final response to the user.</a:t>
            </a:r>
            <a:endParaRPr lang="en-US" altLang="en-US" sz="1400">
              <a:latin typeface="Times New Roman" panose="02020603050405020304" charset="0"/>
              <a:cs typeface="Times New Roman" panose="0202060305040502030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4687</Words>
  <Application>WPS Presentation</Application>
  <PresentationFormat>On-screen Show (4:3)</PresentationFormat>
  <Paragraphs>69</Paragraphs>
  <Slides>5</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5</vt:i4>
      </vt:variant>
    </vt:vector>
  </HeadingPairs>
  <TitlesOfParts>
    <vt:vector size="14" baseType="lpstr">
      <vt:lpstr>Arial</vt:lpstr>
      <vt:lpstr>SimSun</vt:lpstr>
      <vt:lpstr>Wingdings</vt:lpstr>
      <vt:lpstr>Arial</vt:lpstr>
      <vt:lpstr>Times New Roman</vt:lpstr>
      <vt:lpstr>Microsoft YaHei</vt:lpstr>
      <vt:lpstr>Arial Unicode MS</vt:lpstr>
      <vt:lpstr>Calibri</vt:lpstr>
      <vt:lpstr>Office Theme</vt:lpstr>
      <vt:lpstr>AI Model Overview</vt:lpstr>
      <vt:lpstr>LLM Workflow</vt:lpstr>
      <vt:lpstr>PowerPoint 演示文稿</vt:lpstr>
      <vt:lpstr>LCM Workflow</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Lenovo</cp:lastModifiedBy>
  <cp:revision>9</cp:revision>
  <dcterms:created xsi:type="dcterms:W3CDTF">2013-01-27T09:14:00Z</dcterms:created>
  <dcterms:modified xsi:type="dcterms:W3CDTF">2026-07-10T11:20:15Z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13D78FE5DE50485C9E561F3AFF4E3ABD_12</vt:lpwstr>
  </property>
  <property fmtid="{D5CDD505-2E9C-101B-9397-08002B2CF9AE}" pid="3" name="KSOProductBuildVer">
    <vt:lpwstr>1033-12.1.0.26880</vt:lpwstr>
  </property>
</Properties>
</file>