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60" r:id="rId6"/>
    <p:sldId id="259" r:id="rId7"/>
    <p:sldId id="261"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53"/>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85800" y="1235075"/>
            <a:ext cx="7424420" cy="3336925"/>
          </a:xfrm>
        </p:spPr>
        <p:txBody>
          <a:bodyPr/>
          <a:lstStyle/>
          <a:p>
            <a:r>
              <a:rPr lang="en-US" altLang="en-US" sz="3600" b="1">
                <a:latin typeface="Times New Roman" panose="02020603050405020304" charset="0"/>
                <a:cs typeface="Times New Roman" panose="02020603050405020304" charset="0"/>
              </a:rPr>
              <a:t>DYNAMIC PROGRAMMING</a:t>
            </a:r>
            <a:br>
              <a:rPr lang="en-US" altLang="en-US" sz="3600" b="1">
                <a:latin typeface="Times New Roman" panose="02020603050405020304" charset="0"/>
                <a:cs typeface="Times New Roman" panose="02020603050405020304" charset="0"/>
              </a:rPr>
            </a:br>
            <a:endParaRPr lang="en-US" altLang="en-US" sz="36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35280"/>
            <a:ext cx="8229600" cy="6336665"/>
          </a:xfrm>
        </p:spPr>
        <p:txBody>
          <a:bodyPr>
            <a:noAutofit/>
          </a:bodyPr>
          <a:lstStyle/>
          <a:p>
            <a:pPr marL="0" indent="0">
              <a:buNone/>
              <a:defRPr sz="2000"/>
            </a:pPr>
            <a:r>
              <a:rPr lang="en-US" altLang="en-US" sz="1600" b="1">
                <a:latin typeface="Times New Roman" panose="02020603050405020304" charset="0"/>
                <a:cs typeface="Times New Roman" panose="02020603050405020304" charset="0"/>
              </a:rPr>
              <a:t>Dynamic Programming in Python: </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Dynamic Programming (DP) is an algorithmic technique used to solve complex problems by breaking them into smaller overlapping subproblems, solving each subproblem only once, and storing the results for future use. Instead of solving the same subproblem repeatedly, DP saves the answer and reuses it whenever needed.</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The idea is to store the results of subproblems so that they do not have to be recomputed later. This optimization usually reduces the time complexity from exponential to polynomial.</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Why Dynamic Programming?</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Dynamic Programming helps avoid repeated calculations by storing the solutions of smaller problems and reusing them whenever needed.</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Solves each subproblem only once.</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Stores the answer for future use.</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Reuses stored results.</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Reduces execution time.</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Makes programs faster and more efficient.</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30835"/>
            <a:ext cx="8229600" cy="6175375"/>
          </a:xfrm>
        </p:spPr>
        <p:txBody>
          <a:bodyPr>
            <a:noAutofit/>
          </a:bodyPr>
          <a:lstStyle/>
          <a:p>
            <a:pPr marL="0" indent="0">
              <a:buNone/>
              <a:defRPr sz="2000"/>
            </a:pPr>
            <a:r>
              <a:rPr lang="en-US" altLang="en-US" sz="1600" b="1">
                <a:latin typeface="Times New Roman" panose="02020603050405020304" charset="0"/>
                <a:cs typeface="Times New Roman" panose="02020603050405020304" charset="0"/>
              </a:rPr>
              <a:t>Properties of Dynamic Programming</a:t>
            </a:r>
            <a:endParaRPr lang="en-US" altLang="en-US" sz="1600" b="1">
              <a:latin typeface="Times New Roman" panose="02020603050405020304" charset="0"/>
              <a:cs typeface="Times New Roman" panose="02020603050405020304" charset="0"/>
            </a:endParaRPr>
          </a:p>
          <a:p>
            <a:pPr marL="0" indent="0">
              <a:buNone/>
              <a:defRPr sz="2000"/>
            </a:pPr>
            <a:endParaRPr lang="en-US" altLang="en-US" sz="1600" b="1">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1</a:t>
            </a:r>
            <a:r>
              <a:rPr lang="en-US" altLang="en-US" sz="1600">
                <a:latin typeface="Times New Roman" panose="02020603050405020304" charset="0"/>
                <a:cs typeface="Times New Roman" panose="02020603050405020304" charset="0"/>
              </a:rPr>
              <a:t>. </a:t>
            </a:r>
            <a:r>
              <a:rPr lang="en-US" altLang="en-US" sz="1600" b="1">
                <a:latin typeface="Times New Roman" panose="02020603050405020304" charset="0"/>
                <a:cs typeface="Times New Roman" panose="02020603050405020304" charset="0"/>
              </a:rPr>
              <a:t>Overlapping Subproblems: </a:t>
            </a:r>
            <a:r>
              <a:rPr lang="en-US" altLang="en-US" sz="1600">
                <a:latin typeface="Times New Roman" panose="02020603050405020304" charset="0"/>
                <a:cs typeface="Times New Roman" panose="02020603050405020304" charset="0"/>
              </a:rPr>
              <a:t>A problem has overlapping subproblems if the same smaller problems are solved repeatedly.</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Example: Fibonacci Series</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2. Optimal Substructure: </a:t>
            </a:r>
            <a:r>
              <a:rPr lang="en-US" altLang="en-US" sz="1600">
                <a:latin typeface="Times New Roman" panose="02020603050405020304" charset="0"/>
                <a:cs typeface="Times New Roman" panose="02020603050405020304" charset="0"/>
              </a:rPr>
              <a:t>A problem has optimal substructure if the optimal solution of the main problem can be built from the optimal solutions of its smaller subproblems.</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Example: To find the shortest path from A to C through B,</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Approaches of Dynamic Programming:</a:t>
            </a:r>
            <a:endParaRPr lang="en-US" altLang="en-US" sz="1600" b="1">
              <a:latin typeface="Times New Roman" panose="02020603050405020304" charset="0"/>
              <a:cs typeface="Times New Roman" panose="02020603050405020304" charset="0"/>
            </a:endParaRPr>
          </a:p>
          <a:p>
            <a:pPr marL="0" indent="0">
              <a:buNone/>
              <a:defRPr sz="2000"/>
            </a:pP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There are two approaches: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1. Memoization (Top-Down Approach)</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2. Tabulation (Bottom-Up Approach)</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29565"/>
            <a:ext cx="8229600" cy="6174740"/>
          </a:xfrm>
        </p:spPr>
        <p:txBody>
          <a:bodyPr>
            <a:noAutofit/>
          </a:bodyPr>
          <a:lstStyle/>
          <a:p>
            <a:pPr marL="0" lvl="0" indent="0">
              <a:buNone/>
              <a:defRPr sz="2000"/>
            </a:pPr>
            <a:r>
              <a:rPr lang="en-US" altLang="en-US" sz="1600" b="1">
                <a:latin typeface="Times New Roman" panose="02020603050405020304" charset="0"/>
                <a:cs typeface="Times New Roman" panose="02020603050405020304" charset="0"/>
              </a:rPr>
              <a:t>1. Memoization</a:t>
            </a:r>
            <a:r>
              <a:rPr lang="en-US" altLang="en-US" sz="1600">
                <a:latin typeface="Times New Roman" panose="02020603050405020304" charset="0"/>
                <a:cs typeface="Times New Roman" panose="02020603050405020304" charset="0"/>
              </a:rPr>
              <a:t> (Top-Down Approach):  Memoization solves the problem recursively and stores the results of function calls.</a:t>
            </a:r>
            <a:endParaRPr lang="en-US" altLang="en-US" sz="1600">
              <a:latin typeface="Times New Roman" panose="02020603050405020304" charset="0"/>
              <a:cs typeface="Times New Roman" panose="02020603050405020304" charset="0"/>
            </a:endParaRPr>
          </a:p>
          <a:p>
            <a:pPr marL="0" lvl="0" indent="0">
              <a:buNone/>
              <a:defRPr sz="2000"/>
            </a:pPr>
            <a:r>
              <a:rPr lang="en-US" altLang="en-US" sz="1600" b="1">
                <a:latin typeface="Times New Roman" panose="02020603050405020304" charset="0"/>
                <a:cs typeface="Times New Roman" panose="02020603050405020304" charset="0"/>
              </a:rPr>
              <a:t>Features:</a:t>
            </a:r>
            <a:endParaRPr lang="en-US" altLang="en-US" sz="1600" b="1">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Top-down approach</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Uses recursion</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Solves the main problem first</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Stores computed values in a dictionary or table</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Computes values only when required</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Time Complexity  O(n)</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Space Complexity  O(n)</a:t>
            </a:r>
            <a:endParaRPr lang="en-US" altLang="en-US" sz="1600">
              <a:latin typeface="Times New Roman" panose="02020603050405020304" charset="0"/>
              <a:cs typeface="Times New Roman" panose="02020603050405020304" charset="0"/>
            </a:endParaRPr>
          </a:p>
          <a:p>
            <a:pPr marL="0" lvl="0" indent="0">
              <a:buNone/>
              <a:defRPr sz="2000"/>
            </a:pPr>
            <a:endParaRPr lang="en-US" altLang="en-US" sz="1600">
              <a:latin typeface="Times New Roman" panose="02020603050405020304" charset="0"/>
              <a:cs typeface="Times New Roman" panose="02020603050405020304" charset="0"/>
            </a:endParaRPr>
          </a:p>
          <a:p>
            <a:pPr marL="0" lvl="0" indent="0">
              <a:buNone/>
              <a:defRPr sz="2000"/>
            </a:pPr>
            <a:r>
              <a:rPr lang="en-US" altLang="en-US" sz="1600" b="1">
                <a:latin typeface="Times New Roman" panose="02020603050405020304" charset="0"/>
                <a:cs typeface="Times New Roman" panose="02020603050405020304" charset="0"/>
              </a:rPr>
              <a:t>2. Tabulation</a:t>
            </a:r>
            <a:r>
              <a:rPr lang="en-US" altLang="en-US" sz="1600">
                <a:latin typeface="Times New Roman" panose="02020603050405020304" charset="0"/>
                <a:cs typeface="Times New Roman" panose="02020603050405020304" charset="0"/>
              </a:rPr>
              <a:t> (Bottom-Up Approach): Tabulation solves the smallest subproblems first and builds the solution iteratively.</a:t>
            </a:r>
            <a:endParaRPr lang="en-US" altLang="en-US" sz="1600">
              <a:latin typeface="Times New Roman" panose="02020603050405020304" charset="0"/>
              <a:cs typeface="Times New Roman" panose="02020603050405020304" charset="0"/>
            </a:endParaRPr>
          </a:p>
          <a:p>
            <a:pPr marL="0" lvl="0" indent="0">
              <a:buNone/>
              <a:defRPr sz="2000"/>
            </a:pPr>
            <a:r>
              <a:rPr lang="en-US" altLang="en-US" sz="1600" b="1">
                <a:latin typeface="Times New Roman" panose="02020603050405020304" charset="0"/>
                <a:cs typeface="Times New Roman" panose="02020603050405020304" charset="0"/>
              </a:rPr>
              <a:t>Features:</a:t>
            </a:r>
            <a:endParaRPr lang="en-US" altLang="en-US" sz="1600" b="1">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Bottom-up approach</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Uses loops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No recursion</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Stores results in a table</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Builds the solution from smaller to larger problems.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Time Complexity  O(n)</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Space Complexity  O(n)</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p:nvPr>
            <p:ph idx="1"/>
          </p:nvPr>
        </p:nvSpPr>
        <p:spPr>
          <a:xfrm>
            <a:off x="457200" y="327025"/>
            <a:ext cx="8229600" cy="6204585"/>
          </a:xfrm>
        </p:spPr>
        <p:txBody>
          <a:bodyPr>
            <a:noAutofit/>
          </a:bodyPr>
          <a:p>
            <a:pPr marL="0" lvl="0" indent="0">
              <a:buNone/>
              <a:defRPr sz="2000"/>
            </a:pPr>
            <a:r>
              <a:rPr lang="en-US" altLang="en-US" sz="1600" b="1">
                <a:latin typeface="Times New Roman" panose="02020603050405020304" charset="0"/>
                <a:cs typeface="Times New Roman" panose="02020603050405020304" charset="0"/>
              </a:rPr>
              <a:t>Applications of Dynamic Programming</a:t>
            </a:r>
            <a:endParaRPr lang="en-US" altLang="en-US" sz="1600" b="1">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Fibonacci Series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0/1 Knapsack Problem</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Coin Change Problem</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Longest Common Subsequence (LCS)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Longest Increasing Subsequence (LIS)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Matrix Chain Multiplication</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Edit Distance</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Rod Cutting Problem</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Minimum Cost Path</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Climbing Stairs</a:t>
            </a:r>
            <a:endParaRPr lang="en-US" altLang="en-US" sz="1600">
              <a:latin typeface="Times New Roman" panose="02020603050405020304" charset="0"/>
              <a:cs typeface="Times New Roman" panose="02020603050405020304" charset="0"/>
            </a:endParaRPr>
          </a:p>
          <a:p>
            <a:pPr marL="0" lvl="0" indent="0">
              <a:buNone/>
              <a:defRPr sz="2000"/>
            </a:pPr>
            <a:endParaRPr lang="en-US" altLang="en-US" sz="1600" b="1">
              <a:latin typeface="Times New Roman" panose="02020603050405020304" charset="0"/>
              <a:cs typeface="Times New Roman" panose="02020603050405020304" charset="0"/>
            </a:endParaRPr>
          </a:p>
          <a:p>
            <a:pPr marL="0" lvl="0" indent="0">
              <a:buNone/>
              <a:defRPr sz="2000"/>
            </a:pPr>
            <a:r>
              <a:rPr lang="en-US" altLang="en-US" sz="1600" b="1">
                <a:latin typeface="Times New Roman" panose="02020603050405020304" charset="0"/>
                <a:cs typeface="Times New Roman" panose="02020603050405020304" charset="0"/>
              </a:rPr>
              <a:t>Example: </a:t>
            </a:r>
            <a:r>
              <a:rPr lang="en-US" altLang="en-US" sz="1600">
                <a:latin typeface="Times New Roman" panose="02020603050405020304" charset="0"/>
                <a:cs typeface="Times New Roman" panose="02020603050405020304" charset="0"/>
              </a:rPr>
              <a:t> 0/1 Knapsack Problem:</a:t>
            </a:r>
            <a:endParaRPr lang="en-US" altLang="en-US" sz="1600">
              <a:latin typeface="Times New Roman" panose="02020603050405020304" charset="0"/>
              <a:cs typeface="Times New Roman" panose="02020603050405020304" charset="0"/>
            </a:endParaRPr>
          </a:p>
          <a:p>
            <a:pPr marL="0" lvl="0" indent="0">
              <a:buNone/>
              <a:defRPr sz="2000"/>
            </a:pPr>
            <a:r>
              <a:rPr lang="en-US" altLang="en-US" sz="1600">
                <a:latin typeface="Times New Roman" panose="02020603050405020304" charset="0"/>
                <a:cs typeface="Times New Roman" panose="02020603050405020304" charset="0"/>
              </a:rPr>
              <a:t>The 0/1 Knapsack Problem is a Dynamic Programming problem in which each item can either be:</a:t>
            </a:r>
            <a:endParaRPr lang="en-US" altLang="en-US" sz="1600">
              <a:latin typeface="Times New Roman" panose="02020603050405020304" charset="0"/>
              <a:cs typeface="Times New Roman" panose="02020603050405020304" charset="0"/>
            </a:endParaRPr>
          </a:p>
          <a:p>
            <a:pPr marL="0" lvl="0" indent="0">
              <a:buNone/>
              <a:defRPr sz="2000"/>
            </a:pPr>
            <a:r>
              <a:rPr lang="en-US" altLang="en-US" sz="1600">
                <a:latin typeface="Times New Roman" panose="02020603050405020304" charset="0"/>
                <a:cs typeface="Times New Roman" panose="02020603050405020304" charset="0"/>
              </a:rPr>
              <a:t>0 → Not Selected</a:t>
            </a:r>
            <a:endParaRPr lang="en-US" altLang="en-US" sz="1600">
              <a:latin typeface="Times New Roman" panose="02020603050405020304" charset="0"/>
              <a:cs typeface="Times New Roman" panose="02020603050405020304" charset="0"/>
            </a:endParaRPr>
          </a:p>
          <a:p>
            <a:pPr marL="0" lvl="0" indent="0">
              <a:buNone/>
              <a:defRPr sz="2000"/>
            </a:pPr>
            <a:r>
              <a:rPr lang="en-US" altLang="en-US" sz="1600">
                <a:latin typeface="Times New Roman" panose="02020603050405020304" charset="0"/>
                <a:cs typeface="Times New Roman" panose="02020603050405020304" charset="0"/>
              </a:rPr>
              <a:t>1 → Selected</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The objective is to maximize the total value of selected items without exceeding the given weight capacity.</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Knapsack = Choose the most valuable combination that fits within the weight limit.</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2579</Words>
  <Application>WPS Presentation</Application>
  <PresentationFormat>On-screen Show (4:3)</PresentationFormat>
  <Paragraphs>69</Paragraphs>
  <Slides>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vt:i4>
      </vt:variant>
    </vt:vector>
  </HeadingPairs>
  <TitlesOfParts>
    <vt:vector size="14" baseType="lpstr">
      <vt:lpstr>Arial</vt:lpstr>
      <vt:lpstr>SimSun</vt:lpstr>
      <vt:lpstr>Wingdings</vt:lpstr>
      <vt:lpstr>Arial</vt:lpstr>
      <vt:lpstr>Times New Roman</vt:lpstr>
      <vt:lpstr>Microsoft YaHei</vt:lpstr>
      <vt:lpstr>Arial Unicode MS</vt:lpstr>
      <vt:lpstr>Calibri</vt:lpstr>
      <vt:lpstr>Office Theme</vt:lpstr>
      <vt:lpstr>SORTING ALGORITHMS</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SHIFA FATHIMA</cp:lastModifiedBy>
  <cp:revision>24</cp:revision>
  <dcterms:created xsi:type="dcterms:W3CDTF">2013-01-27T09:14:00Z</dcterms:created>
  <dcterms:modified xsi:type="dcterms:W3CDTF">2026-07-27T09:44:23Z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446E28FF2F1142B99E4417160E49D5F0_13</vt:lpwstr>
  </property>
  <property fmtid="{D5CDD505-2E9C-101B-9397-08002B2CF9AE}" pid="3" name="KSOProductBuildVer">
    <vt:lpwstr>1033-12.1.0.27458</vt:lpwstr>
  </property>
</Properties>
</file>