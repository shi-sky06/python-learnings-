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60" r:id="rId5"/>
    <p:sldId id="259" r:id="rId6"/>
    <p:sldId id="261"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685800" y="1235075"/>
            <a:ext cx="7424420" cy="3336925"/>
          </a:xfrm>
        </p:spPr>
        <p:txBody>
          <a:bodyPr/>
          <a:lstStyle/>
          <a:p>
            <a:r>
              <a:rPr sz="3600" b="1">
                <a:latin typeface="Times New Roman" panose="02020603050405020304" charset="0"/>
                <a:cs typeface="Times New Roman" panose="02020603050405020304" charset="0"/>
              </a:rPr>
              <a:t>AI Model Overview</a:t>
            </a:r>
            <a:endParaRPr sz="3600" b="1">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734060"/>
          </a:xfrm>
        </p:spPr>
        <p:txBody>
          <a:bodyPr>
            <a:normAutofit fontScale="90000"/>
          </a:bodyPr>
          <a:lstStyle/>
          <a:p>
            <a:r>
              <a:rPr lang="en-US">
                <a:latin typeface="Times New Roman" panose="02020603050405020304" charset="0"/>
                <a:cs typeface="Times New Roman" panose="02020603050405020304" charset="0"/>
              </a:rPr>
              <a:t>SAM</a:t>
            </a:r>
            <a:r>
              <a:rPr>
                <a:latin typeface="Times New Roman" panose="02020603050405020304" charset="0"/>
                <a:cs typeface="Times New Roman" panose="02020603050405020304" charset="0"/>
              </a:rPr>
              <a:t> Workflow</a:t>
            </a:r>
            <a:endParaRPr>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1190625"/>
            <a:ext cx="8229600" cy="5126990"/>
          </a:xfrm>
        </p:spPr>
        <p:txBody>
          <a:bodyPr>
            <a:noAutofit/>
          </a:bodyPr>
          <a:lstStyle/>
          <a:p>
            <a:pPr marL="0" indent="0">
              <a:buNone/>
              <a:defRPr sz="2000"/>
            </a:pPr>
            <a:r>
              <a:rPr lang="en-US" altLang="en-US" sz="1600" b="1">
                <a:latin typeface="Times New Roman" panose="02020603050405020304" charset="0"/>
                <a:cs typeface="Times New Roman" panose="02020603050405020304" charset="0"/>
              </a:rPr>
              <a:t>SAM – Segment Anything Model (SAM): </a:t>
            </a: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 Segment Anything Model (SAM) is an AI model developed by Meta AI that segments any object in an image by generating a pixel-level mask using prompts such as points, bounding boxes, or masks.</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Examples: Meta SAM, SAM 2</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Working:</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Input Image + Prompt → Image Processing → Image Encoder → Prompt Encoder → Mask Decoder → Segmentation Mask → Output</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Input Image &amp; Prompt: </a:t>
            </a:r>
            <a:r>
              <a:rPr lang="en-US" altLang="en-US" sz="1600">
                <a:latin typeface="Times New Roman" panose="02020603050405020304" charset="0"/>
                <a:cs typeface="Times New Roman" panose="02020603050405020304" charset="0"/>
              </a:rPr>
              <a:t>User provides an image and a prompt (point, box, or mask).</a:t>
            </a: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Image Processing: </a:t>
            </a:r>
            <a:r>
              <a:rPr lang="en-US" altLang="en-US" sz="1600">
                <a:latin typeface="Times New Roman" panose="02020603050405020304" charset="0"/>
                <a:cs typeface="Times New Roman" panose="02020603050405020304" charset="0"/>
              </a:rPr>
              <a:t>Image is resized and divided into patches.</a:t>
            </a: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Image Encoder:</a:t>
            </a:r>
            <a:r>
              <a:rPr lang="en-US" altLang="en-US" sz="1600">
                <a:latin typeface="Times New Roman" panose="02020603050405020304" charset="0"/>
                <a:cs typeface="Times New Roman" panose="02020603050405020304" charset="0"/>
              </a:rPr>
              <a:t> Vision Transformer (ViT) extracts image features and creates image embeddings.</a:t>
            </a: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Prompt Encoder:</a:t>
            </a:r>
            <a:r>
              <a:rPr lang="en-US" altLang="en-US" sz="1600">
                <a:latin typeface="Times New Roman" panose="02020603050405020304" charset="0"/>
                <a:cs typeface="Times New Roman" panose="02020603050405020304" charset="0"/>
              </a:rPr>
              <a:t> Converts the prompt into prompt embeddings.</a:t>
            </a: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Mask Decoder</a:t>
            </a:r>
            <a:r>
              <a:rPr lang="en-US" altLang="en-US" sz="1600">
                <a:latin typeface="Times New Roman" panose="02020603050405020304" charset="0"/>
                <a:cs typeface="Times New Roman" panose="02020603050405020304" charset="0"/>
              </a:rPr>
              <a:t>: Combines image and prompt embeddings to generate the best segmentation mask.</a:t>
            </a: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Segmentation Mask:</a:t>
            </a:r>
            <a:r>
              <a:rPr lang="en-US" altLang="en-US" sz="1600">
                <a:latin typeface="Times New Roman" panose="02020603050405020304" charset="0"/>
                <a:cs typeface="Times New Roman" panose="02020603050405020304" charset="0"/>
              </a:rPr>
              <a:t> Highlights the selected object at the pixel level.</a:t>
            </a: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Output:</a:t>
            </a:r>
            <a:r>
              <a:rPr lang="en-US" altLang="en-US" sz="1600">
                <a:latin typeface="Times New Roman" panose="02020603050405020304" charset="0"/>
                <a:cs typeface="Times New Roman" panose="02020603050405020304" charset="0"/>
              </a:rPr>
              <a:t> Returns the segmented object separated from the background.</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98145"/>
            <a:ext cx="8229600" cy="5870575"/>
          </a:xfrm>
        </p:spPr>
        <p:txBody>
          <a:bodyPr>
            <a:noAutofit/>
          </a:bodyPr>
          <a:lstStyle/>
          <a:p>
            <a:pPr marL="0" indent="0">
              <a:buNone/>
              <a:defRPr sz="2000"/>
            </a:pPr>
            <a:r>
              <a:rPr lang="en-US" altLang="en-US" sz="1600" b="1">
                <a:latin typeface="Times New Roman" panose="02020603050405020304" charset="0"/>
                <a:cs typeface="Times New Roman" panose="02020603050405020304" charset="0"/>
              </a:rPr>
              <a:t>How Does a Segment Anything Model (SAM) Work?</a:t>
            </a:r>
            <a:endParaRPr lang="en-US" altLang="en-US" sz="1600" b="1">
              <a:latin typeface="Times New Roman" panose="02020603050405020304" charset="0"/>
              <a:cs typeface="Times New Roman" panose="02020603050405020304" charset="0"/>
            </a:endParaRPr>
          </a:p>
          <a:p>
            <a:pPr marL="0" indent="0">
              <a:buNone/>
              <a:defRPr sz="2000"/>
            </a:pP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Step 1:</a:t>
            </a:r>
            <a:r>
              <a:rPr lang="en-US" altLang="en-US" sz="1600" b="1">
                <a:latin typeface="Times New Roman" panose="02020603050405020304" charset="0"/>
                <a:cs typeface="Times New Roman" panose="02020603050405020304" charset="0"/>
              </a:rPr>
              <a:t> Input Collection : </a:t>
            </a:r>
            <a:r>
              <a:rPr lang="en-US" altLang="en-US" sz="1600">
                <a:latin typeface="Times New Roman" panose="02020603050405020304" charset="0"/>
                <a:cs typeface="Times New Roman" panose="02020603050405020304" charset="0"/>
              </a:rPr>
              <a:t>The user provides an image along with a prompt (point, bounding box, or mask) indicating the object to segment.</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Step 2: </a:t>
            </a:r>
            <a:r>
              <a:rPr lang="en-US" altLang="en-US" sz="1600" b="1">
                <a:latin typeface="Times New Roman" panose="02020603050405020304" charset="0"/>
                <a:cs typeface="Times New Roman" panose="02020603050405020304" charset="0"/>
              </a:rPr>
              <a:t>Image Processing: </a:t>
            </a:r>
            <a:r>
              <a:rPr lang="en-US" altLang="en-US" sz="1600">
                <a:latin typeface="Times New Roman" panose="02020603050405020304" charset="0"/>
                <a:cs typeface="Times New Roman" panose="02020603050405020304" charset="0"/>
              </a:rPr>
              <a:t>The image is resized and divided into small image patches.</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Each patch contains visual information such as edges, colors, textures, and shapes.</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Step 3: </a:t>
            </a:r>
            <a:r>
              <a:rPr lang="en-US" altLang="en-US" sz="1600" b="1">
                <a:latin typeface="Times New Roman" panose="02020603050405020304" charset="0"/>
                <a:cs typeface="Times New Roman" panose="02020603050405020304" charset="0"/>
              </a:rPr>
              <a:t>Image Embeddings: </a:t>
            </a:r>
            <a:r>
              <a:rPr lang="en-US" altLang="en-US" sz="1600">
                <a:latin typeface="Times New Roman" panose="02020603050405020304" charset="0"/>
                <a:cs typeface="Times New Roman" panose="02020603050405020304" charset="0"/>
              </a:rPr>
              <a:t>Each image patch is converted into an image embedding (a numerical vector) using a Vision Transformer (ViT).</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Step 4: </a:t>
            </a:r>
            <a:r>
              <a:rPr lang="en-US" altLang="en-US" sz="1600" b="1">
                <a:latin typeface="Times New Roman" panose="02020603050405020304" charset="0"/>
                <a:cs typeface="Times New Roman" panose="02020603050405020304" charset="0"/>
              </a:rPr>
              <a:t>Pr</a:t>
            </a:r>
            <a:r>
              <a:rPr lang="en-US" altLang="en-US" sz="1600" b="1">
                <a:latin typeface="Times New Roman" panose="02020603050405020304" charset="0"/>
                <a:cs typeface="Times New Roman" panose="02020603050405020304" charset="0"/>
              </a:rPr>
              <a:t>ompt Processing</a:t>
            </a: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The user prompt (point, box, or mask) is converted into prompt embeddings that indicate which object should be segmented.</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Step 5</a:t>
            </a:r>
            <a:r>
              <a:rPr lang="en-US" altLang="en-US" sz="1600" b="1">
                <a:latin typeface="Times New Roman" panose="02020603050405020304" charset="0"/>
                <a:cs typeface="Times New Roman" panose="02020603050405020304" charset="0"/>
              </a:rPr>
              <a:t>: Mask Generation: </a:t>
            </a:r>
            <a:r>
              <a:rPr lang="en-US" altLang="en-US" sz="1600">
                <a:latin typeface="Times New Roman" panose="02020603050405020304" charset="0"/>
                <a:cs typeface="Times New Roman" panose="02020603050405020304" charset="0"/>
              </a:rPr>
              <a:t>The Mask Decoder combines the image embeddings and prompt embeddings. It identifies the object's pixels and generates the best segmentation mask.</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Final Output</a:t>
            </a:r>
            <a:r>
              <a:rPr lang="en-US" altLang="en-US" sz="1600">
                <a:latin typeface="Times New Roman" panose="02020603050405020304" charset="0"/>
                <a:cs typeface="Times New Roman" panose="02020603050405020304" charset="0"/>
              </a:rPr>
              <a:t>The model returns a pixel-level segmentation mask, separating the selected object from the background.</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695325"/>
          </a:xfrm>
        </p:spPr>
        <p:txBody>
          <a:bodyPr>
            <a:normAutofit fontScale="90000"/>
          </a:bodyPr>
          <a:lstStyle/>
          <a:p>
            <a:r>
              <a:rPr lang="en-US">
                <a:latin typeface="Times New Roman" panose="02020603050405020304" charset="0"/>
                <a:cs typeface="Times New Roman" panose="02020603050405020304" charset="0"/>
              </a:rPr>
              <a:t>SML </a:t>
            </a:r>
            <a:r>
              <a:rPr>
                <a:latin typeface="Times New Roman" panose="02020603050405020304" charset="0"/>
                <a:cs typeface="Times New Roman" panose="02020603050405020304" charset="0"/>
              </a:rPr>
              <a:t>Workflow</a:t>
            </a:r>
            <a:endParaRPr>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972820"/>
            <a:ext cx="8229600" cy="5531485"/>
          </a:xfrm>
        </p:spPr>
        <p:txBody>
          <a:bodyPr>
            <a:noAutofit/>
          </a:bodyPr>
          <a:lstStyle/>
          <a:p>
            <a:pPr marL="0" indent="0">
              <a:buNone/>
              <a:defRPr sz="2000"/>
            </a:pPr>
            <a:r>
              <a:rPr lang="en-US" altLang="en-US" sz="1600" b="1">
                <a:latin typeface="Times New Roman" panose="02020603050405020304" charset="0"/>
                <a:cs typeface="Times New Roman" panose="02020603050405020304" charset="0"/>
              </a:rPr>
              <a:t>SLM: Small Language Model (SLM)</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 Small Language Model (SLM) is a lightweight AI language model designed to understand and generate human language using fewer parameters than a Large Language Model (LLM). It provides faster inference, lower memory usage, and can run efficiently on devices such as laptops, smartphones, and edge devices. SLMs are commonly used for chatbots, text summarization, translation, question answering, and offline AI applications.</a:t>
            </a: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Example</a:t>
            </a:r>
            <a:r>
              <a:rPr lang="en-US" altLang="en-US" sz="1600">
                <a:latin typeface="Times New Roman" panose="02020603050405020304" charset="0"/>
                <a:cs typeface="Times New Roman" panose="02020603050405020304" charset="0"/>
              </a:rPr>
              <a:t>: Phi-3 Mini, Gemma 2B, TinyLlama, Llama 3.2 (1B/3B)</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Working:</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Input → Tokenization → Embeddings → Positional Encoding → Transformer Decoder → Prediction Layer → Output</a:t>
            </a:r>
            <a:endParaRPr lang="en-US" altLang="en-US" sz="1600">
              <a:latin typeface="Times New Roman" panose="02020603050405020304" charset="0"/>
              <a:cs typeface="Times New Roman" panose="02020603050405020304" charset="0"/>
            </a:endParaRPr>
          </a:p>
          <a:p>
            <a:pPr marL="0" indent="0">
              <a:buNone/>
              <a:defRPr sz="2000"/>
            </a:pP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Input</a:t>
            </a:r>
            <a:r>
              <a:rPr lang="en-US" altLang="en-US" sz="1400">
                <a:latin typeface="Times New Roman" panose="02020603050405020304" charset="0"/>
                <a:cs typeface="Times New Roman" panose="02020603050405020304" charset="0"/>
              </a:rPr>
              <a:t>: The user provides a prompt, question, or sentence.</a:t>
            </a: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Tokenization</a:t>
            </a:r>
            <a:r>
              <a:rPr lang="en-US" altLang="en-US" sz="1400">
                <a:latin typeface="Times New Roman" panose="02020603050405020304" charset="0"/>
                <a:cs typeface="Times New Roman" panose="02020603050405020304" charset="0"/>
              </a:rPr>
              <a:t>: The input text is split into tokens (words or subwords).</a:t>
            </a: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Embeddings</a:t>
            </a:r>
            <a:r>
              <a:rPr lang="en-US" altLang="en-US" sz="1400">
                <a:latin typeface="Times New Roman" panose="02020603050405020304" charset="0"/>
                <a:cs typeface="Times New Roman" panose="02020603050405020304" charset="0"/>
              </a:rPr>
              <a:t>: Each token is converted into numerical vectors representing its meaning.</a:t>
            </a: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Positional </a:t>
            </a:r>
            <a:r>
              <a:rPr lang="en-US" altLang="en-US" sz="1400">
                <a:latin typeface="Times New Roman" panose="02020603050405020304" charset="0"/>
                <a:cs typeface="Times New Roman" panose="02020603050405020304" charset="0"/>
              </a:rPr>
              <a:t>Encoding: Position information is added so the model understands the order of the tokens.</a:t>
            </a: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Transformer Decoder</a:t>
            </a:r>
            <a:r>
              <a:rPr lang="en-US" altLang="en-US" sz="1400">
                <a:latin typeface="Times New Roman" panose="02020603050405020304" charset="0"/>
                <a:cs typeface="Times New Roman" panose="02020603050405020304" charset="0"/>
              </a:rPr>
              <a:t>: Processes the tokens using self-attention and feed-forward networks to understand context and predict the next token.</a:t>
            </a: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Prediction Layer</a:t>
            </a:r>
            <a:r>
              <a:rPr lang="en-US" altLang="en-US" sz="1400">
                <a:latin typeface="Times New Roman" panose="02020603050405020304" charset="0"/>
                <a:cs typeface="Times New Roman" panose="02020603050405020304" charset="0"/>
              </a:rPr>
              <a:t>: A linear layer followed by a Softmax function predicts the most probable next token.</a:t>
            </a: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Output</a:t>
            </a:r>
            <a:r>
              <a:rPr lang="en-US" altLang="en-US" sz="1400">
                <a:latin typeface="Times New Roman" panose="02020603050405020304" charset="0"/>
                <a:cs typeface="Times New Roman" panose="02020603050405020304" charset="0"/>
              </a:rPr>
              <a:t>: The model generates the response one token at a time until the complete answer is produced.</a:t>
            </a:r>
            <a:endParaRPr lang="en-US" altLang="en-US" sz="14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p:nvPr>
            <p:ph idx="1"/>
          </p:nvPr>
        </p:nvSpPr>
        <p:spPr>
          <a:xfrm>
            <a:off x="457200" y="327025"/>
            <a:ext cx="8229600" cy="6204585"/>
          </a:xfrm>
        </p:spPr>
        <p:txBody>
          <a:bodyPr>
            <a:noAutofit/>
          </a:bodyPr>
          <a:p>
            <a:pPr marL="0" indent="0">
              <a:buNone/>
            </a:pPr>
            <a:r>
              <a:rPr lang="en-US" altLang="en-US" sz="1400" b="1">
                <a:latin typeface="Times New Roman" panose="02020603050405020304" charset="0"/>
                <a:cs typeface="Times New Roman" panose="02020603050405020304" charset="0"/>
              </a:rPr>
              <a:t>How Does a Small Language Model (SLM) Work?</a:t>
            </a:r>
            <a:endParaRPr lang="en-US" altLang="en-US" sz="1400" b="1">
              <a:latin typeface="Times New Roman" panose="02020603050405020304" charset="0"/>
              <a:cs typeface="Times New Roman" panose="02020603050405020304" charset="0"/>
            </a:endParaRPr>
          </a:p>
          <a:p>
            <a:pPr marL="0" indent="0">
              <a:buNone/>
            </a:pPr>
            <a:endParaRPr lang="en-US" altLang="en-US" sz="1400" b="1">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Step 1: Input Collection=&gt; The user provides a prompt, question, or sentence to the model.</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Example: What is Artificial Intelligence?</a:t>
            </a:r>
            <a:endParaRPr lang="en-US" altLang="en-US" sz="1400">
              <a:latin typeface="Times New Roman" panose="02020603050405020304" charset="0"/>
              <a:cs typeface="Times New Roman" panose="02020603050405020304" charset="0"/>
            </a:endParaRPr>
          </a:p>
          <a:p>
            <a:pPr marL="0" indent="0">
              <a:buNone/>
            </a:pP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Step 2: Tokenization =&gt; The input text is divided into smaller units called tokens (words or subwords).</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Example:["What", "is", "Artificial", "Intelligence", "?"] Each token is assigned a unique numerical ID.</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Step 3: Embeddings=&gt; Each token is converted into an embedding (a numerical vector) that represents its meaning. The embeddings allow the model to process the text mathematically.</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Step 4: Positional Encoding =&gt; Positional information is added to each embedding so the model understands the order of the tokens in the sentence.</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Step 5: Transformer Decoder =&gt; The embeddings pass through multiple Transformer Decoder layers. The decoder:  Uses Self-Attention to understand relationships between the input tokens. Learns the context of the sentence. Predicts the next token based on the previously generated tokens.</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Step 6: Prediction Layer=&gt; The Transformer produces scores for all words in the vocabulary. The Softmax function converts these scores into probabilities and predicts the most likely next token.</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Step 7: Response Generation =&gt; The predicted token is added to the sentence, and the process repeats until the complete response is generated or an End-of-Sequence (EOS) token is produced.</a:t>
            </a:r>
            <a:endParaRPr lang="en-US" altLang="en-US" sz="1400">
              <a:latin typeface="Times New Roman" panose="02020603050405020304" charset="0"/>
              <a:cs typeface="Times New Roman" panose="02020603050405020304" charset="0"/>
            </a:endParaRPr>
          </a:p>
          <a:p>
            <a:pPr marL="0" indent="0">
              <a:buNone/>
            </a:pP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Final Output=&gt; The model returns the complete generated response.</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Example: Input: =&gt; What is Artificial Intelligence?</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Output: Artificial Intelligence is the simulation of human intelligence by machines that can learn, reason, and solve problems.</a:t>
            </a:r>
            <a:endParaRPr lang="en-US" altLang="en-US" sz="140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4742</Words>
  <Application>WPS Presentation</Application>
  <PresentationFormat>On-screen Show (4:3)</PresentationFormat>
  <Paragraphs>69</Paragraphs>
  <Slides>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vt:i4>
      </vt:variant>
    </vt:vector>
  </HeadingPairs>
  <TitlesOfParts>
    <vt:vector size="14" baseType="lpstr">
      <vt:lpstr>Arial</vt:lpstr>
      <vt:lpstr>SimSun</vt:lpstr>
      <vt:lpstr>Wingdings</vt:lpstr>
      <vt:lpstr>Arial</vt:lpstr>
      <vt:lpstr>Times New Roman</vt:lpstr>
      <vt:lpstr>Microsoft YaHei</vt:lpstr>
      <vt:lpstr>Arial Unicode MS</vt:lpstr>
      <vt:lpstr>Calibri</vt:lpstr>
      <vt:lpstr>Office Theme</vt:lpstr>
      <vt:lpstr>AI Model Overview</vt:lpstr>
      <vt:lpstr>VLM Workflow</vt:lpstr>
      <vt:lpstr>PowerPoint 演示文稿</vt:lpstr>
      <vt:lpstr>VML Workflow</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SHIFA FATHIMA</cp:lastModifiedBy>
  <cp:revision>15</cp:revision>
  <dcterms:created xsi:type="dcterms:W3CDTF">2013-01-27T09:14:00Z</dcterms:created>
  <dcterms:modified xsi:type="dcterms:W3CDTF">2026-07-14T07:32:58Z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446E28FF2F1142B99E4417160E49D5F0_13</vt:lpwstr>
  </property>
  <property fmtid="{D5CDD505-2E9C-101B-9397-08002B2CF9AE}" pid="3" name="KSOProductBuildVer">
    <vt:lpwstr>1033-12.1.0.26880</vt:lpwstr>
  </property>
</Properties>
</file>