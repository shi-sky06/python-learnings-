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60" r:id="rId6"/>
    <p:sldId id="259" r:id="rId7"/>
    <p:sldId id="261"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5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lang="en-US" altLang="en-US" sz="3600" b="1">
                <a:latin typeface="Times New Roman" panose="02020603050405020304" charset="0"/>
                <a:cs typeface="Times New Roman" panose="02020603050405020304" charset="0"/>
              </a:rPr>
              <a:t>SORTING ALGORITHMS</a:t>
            </a:r>
            <a:endParaRPr lang="en-US" altLang="en-US"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5280"/>
            <a:ext cx="8229600" cy="633666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SORTING ALGORITHMS: </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Sorting is the process of arranging data in a specific order, such as ascending (smallest to largest) or descending (largest to smallest).</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Organizes data in ascending or descending order.</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Makes searching faster and more efficient.</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Improves data processing and analysis.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Used in databases, e-commerce websites, and software applications.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Forms the foundation for many advanced algorithms.</a:t>
            </a:r>
            <a:endParaRPr lang="en-US" altLang="en-US" sz="1600">
              <a:latin typeface="Times New Roman" panose="02020603050405020304" charset="0"/>
              <a:cs typeface="Times New Roman" panose="02020603050405020304" charset="0"/>
            </a:endParaRPr>
          </a:p>
          <a:p>
            <a:pPr>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1. Bubble Sort:</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Bubble Sort is a simple comparison-based sorting algorithm that repeatedly compares adjacent elements and swaps them if they are in the wrong order. After each pass, the largest element moves to its correct position at the end of the array. The process continues until the array is completely sorted.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Algorithm:</a:t>
            </a:r>
            <a:endParaRPr lang="en-US" altLang="en-US" sz="1600" b="1">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Compare adjacent elements.</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Swap if the left element is greater than the right element.</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Continue until the end of the array.</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Repeat passes until no swaps are required.</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0835"/>
            <a:ext cx="8229600" cy="617537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sym typeface="+mn-ea"/>
              </a:rPr>
              <a:t>Features</a:t>
            </a:r>
            <a:endParaRPr lang="en-US" altLang="en-US" sz="1600" b="1">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Comparison-based sorting algorithm.</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Stable sorting algorithm.</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In-place sorting algorithm.</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sym typeface="+mn-ea"/>
              </a:rPr>
              <a:t>Suitable for small datasets.</a:t>
            </a:r>
            <a:endParaRPr lang="en-US" altLang="en-US" sz="1600">
              <a:latin typeface="Times New Roman" panose="02020603050405020304" charset="0"/>
              <a:cs typeface="Times New Roman" panose="02020603050405020304" charset="0"/>
              <a:sym typeface="+mn-ea"/>
            </a:endParaRPr>
          </a:p>
          <a:p>
            <a:pPr>
              <a:defRPr sz="2000"/>
            </a:pPr>
            <a:endParaRPr lang="en-US" altLang="en-US" sz="1600">
              <a:latin typeface="Times New Roman" panose="02020603050405020304" charset="0"/>
              <a:cs typeface="Times New Roman" panose="02020603050405020304" charset="0"/>
              <a:sym typeface="+mn-ea"/>
            </a:endParaRPr>
          </a:p>
          <a:p>
            <a:pPr marL="0" indent="0">
              <a:buNone/>
              <a:defRPr sz="2000"/>
            </a:pPr>
            <a:r>
              <a:rPr lang="en-US" altLang="en-US" sz="1600" b="1">
                <a:latin typeface="Times New Roman" panose="02020603050405020304" charset="0"/>
                <a:cs typeface="Times New Roman" panose="02020603050405020304" charset="0"/>
                <a:sym typeface="+mn-ea"/>
              </a:rPr>
              <a:t>2. Selection Sort: </a:t>
            </a:r>
            <a:endParaRPr lang="en-US" altLang="en-US" sz="1600" b="1">
              <a:latin typeface="Times New Roman" panose="02020603050405020304" charset="0"/>
              <a:cs typeface="Times New Roman" panose="02020603050405020304" charset="0"/>
              <a:sym typeface="+mn-ea"/>
            </a:endParaRPr>
          </a:p>
          <a:p>
            <a:pPr marL="0" indent="0">
              <a:buNone/>
              <a:defRPr sz="2000"/>
            </a:pPr>
            <a:r>
              <a:rPr lang="en-US" altLang="en-US" sz="1600">
                <a:latin typeface="Times New Roman" panose="02020603050405020304" charset="0"/>
                <a:cs typeface="Times New Roman" panose="02020603050405020304" charset="0"/>
                <a:sym typeface="+mn-ea"/>
              </a:rPr>
              <a:t>Selection Sort is a comparison-based sorting algorithm that repeatedly finds the smallest element from the unsorted portion of the array and swaps it with the first unsorted element. After each pass, one element is placed in its correct position.</a:t>
            </a:r>
            <a:endParaRPr lang="en-US" altLang="en-US" sz="1600">
              <a:latin typeface="Times New Roman" panose="02020603050405020304" charset="0"/>
              <a:cs typeface="Times New Roman" panose="02020603050405020304" charset="0"/>
              <a:sym typeface="+mn-ea"/>
            </a:endParaRPr>
          </a:p>
          <a:p>
            <a:pPr marL="0" indent="0">
              <a:buNone/>
              <a:defRPr sz="2000"/>
            </a:pPr>
            <a:endParaRPr lang="en-US" altLang="en-US" sz="1600">
              <a:latin typeface="Times New Roman" panose="02020603050405020304" charset="0"/>
              <a:cs typeface="Times New Roman" panose="02020603050405020304" charset="0"/>
              <a:sym typeface="+mn-ea"/>
            </a:endParaRPr>
          </a:p>
          <a:p>
            <a:pPr marL="0" indent="0">
              <a:buNone/>
              <a:defRPr sz="2000"/>
            </a:pPr>
            <a:r>
              <a:rPr lang="en-US" altLang="en-US" sz="1600" b="1">
                <a:latin typeface="Times New Roman" panose="02020603050405020304" charset="0"/>
                <a:cs typeface="Times New Roman" panose="02020603050405020304" charset="0"/>
                <a:sym typeface="+mn-ea"/>
              </a:rPr>
              <a:t>Algorithm:</a:t>
            </a:r>
            <a:endParaRPr lang="en-US" altLang="en-US" sz="1600" b="1">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Find the smallest element in the unsorted part.</a:t>
            </a:r>
            <a:endParaRPr lang="en-US" altLang="en-US" sz="1600">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Swap it with the first unsorted element.</a:t>
            </a:r>
            <a:endParaRPr lang="en-US" altLang="en-US" sz="1600">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Move the sorted boundary one position forward.</a:t>
            </a:r>
            <a:endParaRPr lang="en-US" altLang="en-US" sz="1600">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Repeat until the array is sorted.</a:t>
            </a:r>
            <a:endParaRPr lang="en-US" altLang="en-US" sz="1600">
              <a:latin typeface="Times New Roman" panose="02020603050405020304" charset="0"/>
              <a:cs typeface="Times New Roman" panose="02020603050405020304" charset="0"/>
              <a:sym typeface="+mn-ea"/>
            </a:endParaRPr>
          </a:p>
          <a:p>
            <a:pPr marL="0" indent="0">
              <a:buNone/>
              <a:defRPr sz="2000"/>
            </a:pPr>
            <a:r>
              <a:rPr lang="en-US" altLang="en-US" sz="1600" b="1">
                <a:latin typeface="Times New Roman" panose="02020603050405020304" charset="0"/>
                <a:cs typeface="Times New Roman" panose="02020603050405020304" charset="0"/>
                <a:sym typeface="+mn-ea"/>
              </a:rPr>
              <a:t>Features:</a:t>
            </a:r>
            <a:endParaRPr lang="en-US" altLang="en-US" sz="1600" b="1">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Comparison-based sorting algorithm.</a:t>
            </a:r>
            <a:endParaRPr lang="en-US" altLang="en-US" sz="1600">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In-place sorting algorithm.</a:t>
            </a:r>
            <a:endParaRPr lang="en-US" altLang="en-US" sz="1600">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Performs fewer swaps than Bubble Sort.</a:t>
            </a:r>
            <a:endParaRPr lang="en-US" altLang="en-US" sz="1600">
              <a:latin typeface="Times New Roman" panose="02020603050405020304" charset="0"/>
              <a:cs typeface="Times New Roman" panose="02020603050405020304" charset="0"/>
              <a:sym typeface="+mn-ea"/>
            </a:endParaRPr>
          </a:p>
          <a:p>
            <a:pPr>
              <a:defRPr sz="2000"/>
            </a:pPr>
            <a:r>
              <a:rPr lang="en-US" altLang="en-US" sz="1600">
                <a:latin typeface="Times New Roman" panose="02020603050405020304" charset="0"/>
                <a:cs typeface="Times New Roman" panose="02020603050405020304" charset="0"/>
                <a:sym typeface="+mn-ea"/>
              </a:rPr>
              <a:t>Not stable in its basic implementation.</a:t>
            </a:r>
            <a:endParaRPr lang="en-US" altLang="en-US" sz="1600">
              <a:latin typeface="Times New Roman" panose="02020603050405020304" charset="0"/>
              <a:cs typeface="Times New Roman" panose="02020603050405020304" charset="0"/>
              <a:sym typeface="+mn-ea"/>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29565"/>
            <a:ext cx="8229600" cy="6174740"/>
          </a:xfrm>
        </p:spPr>
        <p:txBody>
          <a:bodyPr>
            <a:noAutofit/>
          </a:bodyPr>
          <a:lstStyle/>
          <a:p>
            <a:pPr marL="0" lvl="0" indent="0">
              <a:buNone/>
              <a:defRPr sz="2000"/>
            </a:pPr>
            <a:r>
              <a:rPr lang="en-US" altLang="en-US" sz="1600" b="1">
                <a:latin typeface="Times New Roman" panose="02020603050405020304" charset="0"/>
                <a:cs typeface="Times New Roman" panose="02020603050405020304" charset="0"/>
              </a:rPr>
              <a:t>3. Insertion Sort:</a:t>
            </a:r>
            <a:endParaRPr lang="en-US" altLang="en-US" sz="1600" b="1">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Insertion Sort is a sorting algorithm that builds the sorted array one element at a time by inserting each element into its correct position in the already sorted portion of the array.</a:t>
            </a: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Algorithm</a:t>
            </a:r>
            <a:endParaRPr lang="en-US" altLang="en-US" sz="1600" b="1">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Assume the first element is sorted.</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Select the next element as the key.</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Compare the key with previous elements.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Shift larger elements one position to the right.</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Insert the key into its correct position.</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Repeat until all elements are sorted.</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b="1">
                <a:latin typeface="Times New Roman" panose="02020603050405020304" charset="0"/>
                <a:cs typeface="Times New Roman" panose="02020603050405020304" charset="0"/>
              </a:rPr>
              <a:t>Features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Stable sorting algorithm.</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In-place sorting algorithm.</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Efficient for small and nearly sorted datasets.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Uses shifting instead of repeated swapping.4. Merge Sort (Divide and Conquer)</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rPr>
              <a:t>Definition</a:t>
            </a: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a:latin typeface="Times New Roman" panose="02020603050405020304" charset="0"/>
              <a:cs typeface="Times New Roman" panose="02020603050405020304" charset="0"/>
            </a:endParaRPr>
          </a:p>
          <a:p>
            <a:pPr marL="0" lv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lvl="0" indent="0">
              <a:buNone/>
              <a:defRPr sz="2000"/>
            </a:pPr>
            <a:r>
              <a:rPr lang="en-US" altLang="en-US" sz="1600" b="1">
                <a:latin typeface="Times New Roman" panose="02020603050405020304" charset="0"/>
                <a:cs typeface="Times New Roman" panose="02020603050405020304" charset="0"/>
                <a:sym typeface="+mn-ea"/>
              </a:rPr>
              <a:t>Merge Sort:</a:t>
            </a:r>
            <a:r>
              <a:rPr lang="en-US" altLang="en-US" sz="1600">
                <a:latin typeface="Times New Roman" panose="02020603050405020304" charset="0"/>
                <a:cs typeface="Times New Roman" panose="02020603050405020304" charset="0"/>
                <a:sym typeface="+mn-ea"/>
              </a:rPr>
              <a:t> </a:t>
            </a:r>
            <a:endParaRPr lang="en-US" altLang="en-US" sz="1600">
              <a:latin typeface="Times New Roman" panose="02020603050405020304" charset="0"/>
              <a:cs typeface="Times New Roman" panose="02020603050405020304" charset="0"/>
              <a:sym typeface="+mn-ea"/>
            </a:endParaRPr>
          </a:p>
          <a:p>
            <a:pPr marL="0" lvl="0" indent="0">
              <a:buNone/>
              <a:defRPr sz="2000"/>
            </a:pPr>
            <a:r>
              <a:rPr lang="en-US" altLang="en-US" sz="1600">
                <a:latin typeface="Times New Roman" panose="02020603050405020304" charset="0"/>
                <a:cs typeface="Times New Roman" panose="02020603050405020304" charset="0"/>
                <a:sym typeface="+mn-ea"/>
              </a:rPr>
              <a:t>Merge Sort is a Divide and Conquer sorting algorithm that repeatedly divides the array into two halves until each sub-array contains only one element. It then merges the sub-arrays in sorted order to produce the final sorted array.</a:t>
            </a:r>
            <a:endParaRPr lang="en-US" altLang="en-US" sz="1600">
              <a:latin typeface="Times New Roman" panose="02020603050405020304" charset="0"/>
              <a:cs typeface="Times New Roman" panose="02020603050405020304" charset="0"/>
              <a:sym typeface="+mn-ea"/>
            </a:endParaRPr>
          </a:p>
          <a:p>
            <a:pPr marL="0" lvl="0" indent="0">
              <a:buNone/>
              <a:defRPr sz="2000"/>
            </a:pPr>
            <a:endParaRPr lang="en-US" altLang="en-US" sz="1600">
              <a:latin typeface="Times New Roman" panose="02020603050405020304" charset="0"/>
              <a:cs typeface="Times New Roman" panose="02020603050405020304" charset="0"/>
              <a:sym typeface="+mn-ea"/>
            </a:endParaRPr>
          </a:p>
          <a:p>
            <a:pPr marL="0" lvl="0" indent="0">
              <a:buNone/>
              <a:defRPr sz="2000"/>
            </a:pPr>
            <a:r>
              <a:rPr lang="en-US" altLang="en-US" sz="1600" b="1">
                <a:latin typeface="Times New Roman" panose="02020603050405020304" charset="0"/>
                <a:cs typeface="Times New Roman" panose="02020603050405020304" charset="0"/>
                <a:sym typeface="+mn-ea"/>
              </a:rPr>
              <a:t>Algorithm:</a:t>
            </a:r>
            <a:endParaRPr lang="en-US" altLang="en-US" sz="1600" b="1">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Divide Phase</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Divide the array into two halves.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Continue dividing until each sub-array contains one element.</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Merge Phase</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Merge adjacent sub-arrays.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Compare elements from both halves.</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Arrange them in sorted order.</a:t>
            </a:r>
            <a:endParaRPr lang="en-US" altLang="en-US" sz="1600">
              <a:latin typeface="Times New Roman" panose="02020603050405020304" charset="0"/>
              <a:cs typeface="Times New Roman" panose="02020603050405020304" charset="0"/>
            </a:endParaRPr>
          </a:p>
          <a:p>
            <a:pPr lvl="0">
              <a:defRPr sz="2000"/>
            </a:pPr>
            <a:r>
              <a:rPr lang="en-US" altLang="en-US" sz="1600">
                <a:latin typeface="Times New Roman" panose="02020603050405020304" charset="0"/>
                <a:cs typeface="Times New Roman" panose="02020603050405020304" charset="0"/>
                <a:sym typeface="+mn-ea"/>
              </a:rPr>
              <a:t>Continue merging until the complete array is sorted.</a:t>
            </a:r>
            <a:endParaRPr lang="en-US" altLang="en-US" sz="1600">
              <a:latin typeface="Times New Roman" panose="02020603050405020304" charset="0"/>
              <a:cs typeface="Times New Roman" panose="02020603050405020304" charset="0"/>
              <a:sym typeface="+mn-ea"/>
            </a:endParaRPr>
          </a:p>
          <a:p>
            <a:pPr lvl="0">
              <a:defRPr sz="2000"/>
            </a:pP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Features</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Divide and Conquer algorithm.</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Stable sorting algorithm.</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Efficient for large datasets.</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Uses recursion.</a:t>
            </a:r>
            <a:endParaRPr lang="en-US" altLang="en-US" sz="1600">
              <a:latin typeface="Times New Roman" panose="02020603050405020304" charset="0"/>
              <a:cs typeface="Times New Roman" panose="02020603050405020304" charset="0"/>
            </a:endParaRPr>
          </a:p>
          <a:p>
            <a:pPr marL="0" lvl="0" indent="0">
              <a:buNone/>
              <a:defRPr sz="2000"/>
            </a:pPr>
            <a:r>
              <a:rPr lang="en-US" altLang="en-US" sz="1600">
                <a:latin typeface="Times New Roman" panose="02020603050405020304" charset="0"/>
                <a:cs typeface="Times New Roman" panose="02020603050405020304" charset="0"/>
              </a:rPr>
              <a:t>Requires additional memory for merging.</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2915</Words>
  <Application>WPS Presentation</Application>
  <PresentationFormat>On-screen Show (4:3)</PresentationFormat>
  <Paragraphs>81</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Arial</vt:lpstr>
      <vt:lpstr>Times New Roman</vt:lpstr>
      <vt:lpstr>Microsoft YaHei</vt:lpstr>
      <vt:lpstr>Arial Unicode MS</vt:lpstr>
      <vt:lpstr>Calibri</vt:lpstr>
      <vt:lpstr>Office Theme</vt:lpstr>
      <vt:lpstr>File Handling &amp; Algorithms in Python</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SHIFA FATHIMA</cp:lastModifiedBy>
  <cp:revision>22</cp:revision>
  <dcterms:created xsi:type="dcterms:W3CDTF">2013-01-27T09:14:00Z</dcterms:created>
  <dcterms:modified xsi:type="dcterms:W3CDTF">2026-07-24T10:30:29Z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446E28FF2F1142B99E4417160E49D5F0_13</vt:lpwstr>
  </property>
  <property fmtid="{D5CDD505-2E9C-101B-9397-08002B2CF9AE}" pid="3" name="KSOProductBuildVer">
    <vt:lpwstr>1033-12.1.0.27458</vt:lpwstr>
  </property>
</Properties>
</file>