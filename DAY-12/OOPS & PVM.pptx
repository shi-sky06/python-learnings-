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0" r:id="rId5"/>
    <p:sldId id="259" r:id="rId6"/>
    <p:sldId id="262" r:id="rId7"/>
    <p:sldId id="263"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56"/>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1235075"/>
            <a:ext cx="7424420" cy="3336925"/>
          </a:xfrm>
        </p:spPr>
        <p:txBody>
          <a:bodyPr/>
          <a:lstStyle/>
          <a:p>
            <a:r>
              <a:rPr lang="en-US" sz="3600" b="1">
                <a:latin typeface="Times New Roman" panose="02020603050405020304" charset="0"/>
                <a:cs typeface="Times New Roman" panose="02020603050405020304" charset="0"/>
              </a:rPr>
              <a:t>OOPS &amp; PVM</a:t>
            </a:r>
            <a:br>
              <a:rPr lang="en-US" sz="3600" b="1">
                <a:latin typeface="Times New Roman" panose="02020603050405020304" charset="0"/>
                <a:cs typeface="Times New Roman" panose="02020603050405020304" charset="0"/>
              </a:rPr>
            </a:br>
            <a:endParaRPr lang="en-US" sz="36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734060"/>
          </a:xfrm>
        </p:spPr>
        <p:txBody>
          <a:bodyPr>
            <a:normAutofit fontScale="90000"/>
          </a:bodyPr>
          <a:lstStyle/>
          <a:p>
            <a:r>
              <a:rPr lang="en-US">
                <a:latin typeface="Times New Roman" panose="02020603050405020304" charset="0"/>
                <a:cs typeface="Times New Roman" panose="02020603050405020304" charset="0"/>
              </a:rPr>
              <a:t>OOPS </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190625"/>
            <a:ext cx="8229600" cy="552259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Object-Oriented Programming (OOP): </a:t>
            </a:r>
            <a:r>
              <a:rPr lang="en-US" altLang="en-US" sz="1600">
                <a:latin typeface="Times New Roman" panose="02020603050405020304" charset="0"/>
                <a:cs typeface="Times New Roman" panose="02020603050405020304" charset="0"/>
              </a:rPr>
              <a:t>It is a programming paradigm that organizes code using classes and objects. It helps build modular, reusable, maintainable, and scalable applications by representing real-world entities with data and behavior.</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Organizes code into classes and objects.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Supports Encapsulation to bundle data and methods.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Supports Inheritance for code reusability.</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Supports Polymorphism for flexible method implementation.</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Improves code readability and maintenance.</a:t>
            </a:r>
            <a:endParaRPr lang="en-US" altLang="en-US" sz="1600">
              <a:latin typeface="Times New Roman" panose="02020603050405020304" charset="0"/>
              <a:cs typeface="Times New Roman" panose="02020603050405020304" charset="0"/>
            </a:endParaRPr>
          </a:p>
          <a:p>
            <a:pPr>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Class</a:t>
            </a:r>
            <a:r>
              <a:rPr lang="en-US" altLang="en-US" sz="1600">
                <a:latin typeface="Times New Roman" panose="02020603050405020304" charset="0"/>
                <a:cs typeface="Times New Roman" panose="02020603050405020304" charset="0"/>
              </a:rPr>
              <a:t>: A class is a blueprint for creating objects. It defines the attributes (data) and methods (functions) that objects will have.</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Created using the class keyword.</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Defines the properties and behavior of objects.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Attributes are accessed using the dot (.) operator.</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  Example</a:t>
            </a:r>
            <a:r>
              <a:rPr lang="en-US" altLang="en-US" sz="1600">
                <a:latin typeface="Times New Roman" panose="02020603050405020304" charset="0"/>
                <a:cs typeface="Times New Roman" panose="02020603050405020304" charset="0"/>
              </a:rPr>
              <a:t>: 		  class Student: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name = "Shifa"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s1 = Student()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print(s1.name)</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98145"/>
            <a:ext cx="8229600" cy="6108065"/>
          </a:xfrm>
        </p:spPr>
        <p:txBody>
          <a:bodyPr>
            <a:noAutofit/>
          </a:bodyPr>
          <a:lstStyle/>
          <a:p>
            <a:pPr marL="0" indent="0">
              <a:buNone/>
              <a:defRPr sz="2000"/>
            </a:pPr>
            <a:r>
              <a:rPr lang="en-US" altLang="en-US" sz="1600">
                <a:latin typeface="Times New Roman" panose="02020603050405020304" charset="0"/>
                <a:cs typeface="Times New Roman" panose="02020603050405020304" charset="0"/>
              </a:rPr>
              <a:t>Object:  An object is an instance of a class. It represents a real-world entity with its own data.</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State – Attributes (data)</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Behavior – Methods (functions)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Identity – Unique existence of an object</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Example:			class Student:</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name = "Shifa"</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s1 = Student()      # Object creation</a:t>
            </a:r>
            <a:endParaRPr lang="en-US" altLang="en-US" sz="1600">
              <a:latin typeface="Times New Roman" panose="02020603050405020304" charset="0"/>
              <a:cs typeface="Times New Roman" panose="02020603050405020304" charset="0"/>
            </a:endParaRPr>
          </a:p>
          <a:p>
            <a:pPr marL="1371600" lvl="3" indent="457200">
              <a:buNone/>
              <a:defRPr sz="2000"/>
            </a:pPr>
            <a:r>
              <a:rPr lang="en-US" altLang="en-US" sz="1600">
                <a:latin typeface="Times New Roman" panose="02020603050405020304" charset="0"/>
                <a:cs typeface="Times New Roman" panose="02020603050405020304" charset="0"/>
              </a:rPr>
              <a:t>print(s1.name)</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b="1">
                <a:latin typeface="Times New Roman" panose="02020603050405020304" charset="0"/>
                <a:cs typeface="Times New Roman" panose="02020603050405020304" charset="0"/>
              </a:rPr>
              <a:t>Four Pillars of OOP:</a:t>
            </a:r>
            <a:endParaRPr lang="en-US" altLang="en-US" sz="1600" b="1">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1. </a:t>
            </a:r>
            <a:r>
              <a:rPr lang="en-US" altLang="en-US" sz="1600" b="1">
                <a:latin typeface="Times New Roman" panose="02020603050405020304" charset="0"/>
                <a:cs typeface="Times New Roman" panose="02020603050405020304" charset="0"/>
              </a:rPr>
              <a:t>Inheritance</a:t>
            </a:r>
            <a:r>
              <a:rPr lang="en-US" altLang="en-US" sz="1600">
                <a:latin typeface="Times New Roman" panose="02020603050405020304" charset="0"/>
                <a:cs typeface="Times New Roman" panose="02020603050405020304" charset="0"/>
              </a:rPr>
              <a:t>: Inheritance allows a child class to inherit the properties and methods of a parent class, promoting code reusability.</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Promotes code reusability.</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Reduces code duplication.</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Creates parent-child relationships.</a:t>
            </a:r>
            <a:endParaRPr lang="en-US" altLang="en-US" sz="1600">
              <a:latin typeface="Times New Roman" panose="02020603050405020304" charset="0"/>
              <a:cs typeface="Times New Roman" panose="02020603050405020304" charset="0"/>
            </a:endParaRPr>
          </a:p>
          <a:p>
            <a:pPr marL="0" lvl="0" indent="0">
              <a:buNone/>
              <a:defRPr sz="2000"/>
            </a:pPr>
            <a:endParaRPr lang="en-US" altLang="en-US" sz="1600">
              <a:latin typeface="Times New Roman" panose="02020603050405020304" charset="0"/>
              <a:cs typeface="Times New Roman" panose="02020603050405020304" charset="0"/>
            </a:endParaRPr>
          </a:p>
          <a:p>
            <a:pPr lvl="0">
              <a:buFont typeface="+mj-lt"/>
              <a:buAutoNum type="romanLcPeriod"/>
              <a:defRPr sz="2000"/>
            </a:pPr>
            <a:r>
              <a:rPr lang="en-US" altLang="en-US" sz="1600" b="1">
                <a:latin typeface="Times New Roman" panose="02020603050405020304" charset="0"/>
                <a:cs typeface="Times New Roman" panose="02020603050405020304" charset="0"/>
              </a:rPr>
              <a:t>super() Function: </a:t>
            </a:r>
            <a:r>
              <a:rPr lang="en-US" altLang="en-US" sz="1600">
                <a:latin typeface="Times New Roman" panose="02020603050405020304" charset="0"/>
                <a:cs typeface="Times New Roman" panose="02020603050405020304" charset="0"/>
              </a:rPr>
              <a:t>The super() function is used to call the parent class constructor or methods from the child class.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Calls parent class methods.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Reuses parent class functionality.</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Commonly used with inheritance.</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41630"/>
            <a:ext cx="8229600" cy="6162675"/>
          </a:xfrm>
        </p:spPr>
        <p:txBody>
          <a:bodyPr>
            <a:noAutofit/>
          </a:bodyPr>
          <a:lstStyle/>
          <a:p>
            <a:pPr marL="0" indent="0">
              <a:buFont typeface="+mj-lt"/>
              <a:buNone/>
              <a:defRPr sz="2000"/>
            </a:pPr>
            <a:r>
              <a:rPr lang="en-US" altLang="en-US" sz="1600">
                <a:latin typeface="Times New Roman" panose="02020603050405020304" charset="0"/>
                <a:cs typeface="Times New Roman" panose="02020603050405020304" charset="0"/>
              </a:rPr>
              <a:t>ii.  Method Overriding: Method overriding occurs when a child class provides its own implementation of a method already defined in the parent class.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Requires inheritance.</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Method name remains the same.</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Child class replaces the parent method.</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Types of Inheritance</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1. Single Inheritance: One child inherits from one parent.</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2. Multiple Inheritance: One child inherits from multiple parent classes.</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3. Multilevel Inheritance: Inheritance takes place through multiple levels.</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4. Hierarchical Inheritance: Multiple child classes inherit from one parent.</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sym typeface="+mn-ea"/>
              </a:rPr>
              <a:t>2. Polymorphism: </a:t>
            </a:r>
            <a:r>
              <a:rPr lang="en-US" altLang="en-US" sz="1600">
                <a:latin typeface="Times New Roman" panose="02020603050405020304" charset="0"/>
                <a:cs typeface="Times New Roman" panose="02020603050405020304" charset="0"/>
                <a:sym typeface="+mn-ea"/>
              </a:rPr>
              <a:t>Polymorphism means "many forms." The same method or operator behaves differently for different objects.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Same interface, different behavior.</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Improves flexibility.</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Makes programs reusable.</a:t>
            </a:r>
            <a:endParaRPr lang="en-US" altLang="en-US" sz="1600">
              <a:latin typeface="Times New Roman" panose="02020603050405020304" charset="0"/>
              <a:cs typeface="Times New Roman" panose="02020603050405020304" charset="0"/>
              <a:sym typeface="+mn-ea"/>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Types of Polymorphism</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1. Compile-Time Polymorphism: Achieved through method/operator overloading (Python simulates this using default arguments or *args).</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508635"/>
            <a:ext cx="8229600" cy="6162675"/>
          </a:xfrm>
        </p:spPr>
        <p:txBody>
          <a:bodyPr>
            <a:noAutofit/>
          </a:bodyPr>
          <a:lstStyle/>
          <a:p>
            <a:pPr marL="0" indent="0">
              <a:buNone/>
              <a:defRPr sz="2000"/>
            </a:pPr>
            <a:r>
              <a:rPr lang="en-US" altLang="en-US" sz="1600">
                <a:latin typeface="Times New Roman" panose="02020603050405020304" charset="0"/>
                <a:cs typeface="Times New Roman" panose="02020603050405020304" charset="0"/>
                <a:sym typeface="+mn-ea"/>
              </a:rPr>
              <a:t>2. Runtime Polymorphism: Achieved through method overriding.</a:t>
            </a:r>
            <a:endParaRPr lang="en-US" altLang="en-US" sz="1600">
              <a:latin typeface="Times New Roman" panose="02020603050405020304" charset="0"/>
              <a:cs typeface="Times New Roman" panose="02020603050405020304" charset="0"/>
              <a:sym typeface="+mn-ea"/>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3</a:t>
            </a:r>
            <a:r>
              <a:rPr lang="en-US" altLang="en-US" sz="1600">
                <a:latin typeface="Times New Roman" panose="02020603050405020304" charset="0"/>
                <a:cs typeface="Times New Roman" panose="02020603050405020304" charset="0"/>
              </a:rPr>
              <a:t>. </a:t>
            </a:r>
            <a:r>
              <a:rPr lang="en-US" altLang="en-US" sz="1600" b="1">
                <a:latin typeface="Times New Roman" panose="02020603050405020304" charset="0"/>
                <a:cs typeface="Times New Roman" panose="02020603050405020304" charset="0"/>
              </a:rPr>
              <a:t>Encapsulation</a:t>
            </a:r>
            <a:r>
              <a:rPr lang="en-US" altLang="en-US" sz="1600">
                <a:latin typeface="Times New Roman" panose="02020603050405020304" charset="0"/>
                <a:cs typeface="Times New Roman" panose="02020603050405020304" charset="0"/>
              </a:rPr>
              <a:t>: Encapsulation is the process of binding data and methods into a single unit (class) and restricting direct access to data.</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Protects data.</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Improves security.</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Improves maintainability.</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Helps achieve abstraction.</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4. Abstraction:</a:t>
            </a:r>
            <a:r>
              <a:rPr lang="en-US" altLang="en-US" sz="1600">
                <a:latin typeface="Times New Roman" panose="02020603050405020304" charset="0"/>
                <a:cs typeface="Times New Roman" panose="02020603050405020304" charset="0"/>
              </a:rPr>
              <a:t> Abstraction means hiding implementation details and showing only the essential features to the user.</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Hides unnecessary details.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Shows only required functionality.</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Improves security and simplicity.</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sym typeface="+mn-ea"/>
              </a:rPr>
              <a:t>Method Overriding in Python:</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sym typeface="+mn-ea"/>
              </a:rPr>
              <a:t>Method overriding occurs when a child class defines a method with the same name as a method in its parent class. This allows the child class to provide its own implementation while retaining the inheritance relationship. It is commonly used to customize or extend the behavior of inherited method</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508635"/>
            <a:ext cx="8229600" cy="6162675"/>
          </a:xfrm>
        </p:spPr>
        <p:txBody>
          <a:bodyPr>
            <a:noAutofit/>
          </a:bodyPr>
          <a:lstStyle/>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sym typeface="+mn-ea"/>
              </a:rPr>
              <a:t>Python Virtual Machine (PVM): </a:t>
            </a:r>
            <a:r>
              <a:rPr lang="en-US" altLang="en-US" sz="1600">
                <a:latin typeface="Times New Roman" panose="02020603050405020304" charset="0"/>
                <a:cs typeface="Times New Roman" panose="02020603050405020304" charset="0"/>
                <a:sym typeface="+mn-ea"/>
              </a:rPr>
              <a:t>The Python Virtual Machine (PVM) is responsible for executing Python bytecode. It acts as a bridge between the Python program and the computer hardware.</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Executes Python bytecode.</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Platform independent.</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Part of the Python Interpreter (CPython).</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Manages objects and memory.</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3631</Words>
  <Application>WPS Presentation</Application>
  <PresentationFormat>On-screen Show (4:3)</PresentationFormat>
  <Paragraphs>85</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Arial</vt:lpstr>
      <vt:lpstr>Times New Roman</vt:lpstr>
      <vt:lpstr>Microsoft YaHei</vt:lpstr>
      <vt:lpstr>Arial Unicode MS</vt:lpstr>
      <vt:lpstr>Calibri</vt:lpstr>
      <vt:lpstr>Office Theme</vt:lpstr>
      <vt:lpstr>LISTS &amp; STRINGS </vt:lpstr>
      <vt:lpstr>LIST</vt:lpstr>
      <vt:lpstr>PowerPoint 演示文稿</vt:lpstr>
      <vt:lpstr>STRINGS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SHIFA FATHIMA</cp:lastModifiedBy>
  <cp:revision>22</cp:revision>
  <dcterms:created xsi:type="dcterms:W3CDTF">2013-01-27T09:14:00Z</dcterms:created>
  <dcterms:modified xsi:type="dcterms:W3CDTF">2026-07-22T12:11:53Z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446E28FF2F1142B99E4417160E49D5F0_13</vt:lpwstr>
  </property>
  <property fmtid="{D5CDD505-2E9C-101B-9397-08002B2CF9AE}" pid="3" name="KSOProductBuildVer">
    <vt:lpwstr>1033-12.1.0.27458</vt:lpwstr>
  </property>
</Properties>
</file>