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60" r:id="rId5"/>
    <p:sldId id="261"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85800" y="1235075"/>
            <a:ext cx="7424420" cy="3336925"/>
          </a:xfrm>
        </p:spPr>
        <p:txBody>
          <a:bodyPr/>
          <a:lstStyle/>
          <a:p>
            <a:r>
              <a:rPr sz="3600" b="1">
                <a:latin typeface="Times New Roman" panose="02020603050405020304" charset="0"/>
                <a:cs typeface="Times New Roman" panose="02020603050405020304" charset="0"/>
              </a:rPr>
              <a:t>AI Model Overview</a:t>
            </a:r>
            <a:endParaRPr sz="36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734060"/>
          </a:xfrm>
        </p:spPr>
        <p:txBody>
          <a:bodyPr>
            <a:normAutofit fontScale="90000"/>
          </a:bodyPr>
          <a:lstStyle/>
          <a:p>
            <a:r>
              <a:rPr lang="en-US">
                <a:latin typeface="Times New Roman" panose="02020603050405020304" charset="0"/>
                <a:cs typeface="Times New Roman" panose="02020603050405020304" charset="0"/>
              </a:rPr>
              <a:t>SLM</a:t>
            </a:r>
            <a:r>
              <a:rPr>
                <a:latin typeface="Times New Roman" panose="02020603050405020304" charset="0"/>
                <a:cs typeface="Times New Roman" panose="02020603050405020304" charset="0"/>
              </a:rPr>
              <a:t> </a:t>
            </a:r>
            <a:r>
              <a:rPr lang="en-US">
                <a:latin typeface="Times New Roman" panose="02020603050405020304" charset="0"/>
                <a:cs typeface="Times New Roman" panose="02020603050405020304" charset="0"/>
              </a:rPr>
              <a:t>Model</a:t>
            </a:r>
            <a:endParaRPr lang="en-US">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190625"/>
            <a:ext cx="8229600" cy="5126990"/>
          </a:xfrm>
        </p:spPr>
        <p:txBody>
          <a:bodyPr>
            <a:noAutofit/>
          </a:bodyPr>
          <a:lstStyle/>
          <a:p>
            <a:pPr marL="0" indent="0">
              <a:buNone/>
              <a:defRPr sz="2000"/>
            </a:pPr>
            <a:r>
              <a:rPr lang="en-US" altLang="en-US" sz="1600" b="1">
                <a:latin typeface="Times New Roman" panose="02020603050405020304" charset="0"/>
                <a:cs typeface="Times New Roman" panose="02020603050405020304" charset="0"/>
              </a:rPr>
              <a:t>Small Language Model (SLM</a:t>
            </a:r>
            <a:r>
              <a:rPr lang="en-US" altLang="en-US" sz="1600">
                <a:latin typeface="Times New Roman" panose="02020603050405020304" charset="0"/>
                <a:cs typeface="Times New Roman" panose="02020603050405020304" charset="0"/>
              </a:rPr>
              <a:t>):</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 Small Language Model (SLM) is an AI language model that performs tasks similar to a Large Language Model (LLM) but has far fewer parameters. It is designed to be faster, more efficient, and lightweight, making it suitable for devices with limited computing power, such as smartphones, laptops, edge devices, and embedded systems. While an LLM may contain tens or hundreds of billions of parameters, an SLM typically contains millions to a few billion parameters.</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t>
            </a:r>
            <a:r>
              <a:rPr lang="en-US" altLang="en-US" sz="1600" b="1">
                <a:latin typeface="Times New Roman" panose="02020603050405020304" charset="0"/>
                <a:cs typeface="Times New Roman" panose="02020603050405020304" charset="0"/>
              </a:rPr>
              <a:t>Small </a:t>
            </a:r>
            <a:r>
              <a:rPr lang="en-US" altLang="en-US" sz="1600">
                <a:latin typeface="Times New Roman" panose="02020603050405020304" charset="0"/>
                <a:cs typeface="Times New Roman" panose="02020603050405020304" charset="0"/>
              </a:rPr>
              <a:t>→ Fewer parameters and lower computational requirements.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t>
            </a:r>
            <a:r>
              <a:rPr lang="en-US" altLang="en-US" sz="1600" b="1">
                <a:latin typeface="Times New Roman" panose="02020603050405020304" charset="0"/>
                <a:cs typeface="Times New Roman" panose="02020603050405020304" charset="0"/>
              </a:rPr>
              <a:t>Language </a:t>
            </a:r>
            <a:r>
              <a:rPr lang="en-US" altLang="en-US" sz="1600">
                <a:latin typeface="Times New Roman" panose="02020603050405020304" charset="0"/>
                <a:cs typeface="Times New Roman" panose="02020603050405020304" charset="0"/>
              </a:rPr>
              <a:t>→ Processes and understands human language.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t>
            </a:r>
            <a:r>
              <a:rPr lang="en-US" altLang="en-US" sz="1600" b="1">
                <a:latin typeface="Times New Roman" panose="02020603050405020304" charset="0"/>
                <a:cs typeface="Times New Roman" panose="02020603050405020304" charset="0"/>
              </a:rPr>
              <a:t>Model </a:t>
            </a:r>
            <a:r>
              <a:rPr lang="en-US" altLang="en-US" sz="1600">
                <a:latin typeface="Times New Roman" panose="02020603050405020304" charset="0"/>
                <a:cs typeface="Times New Roman" panose="02020603050405020304" charset="0"/>
              </a:rPr>
              <a:t>→ A trained neural network capable of performing NLP tasks. </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Key Features:</a:t>
            </a:r>
            <a:endParaRPr lang="en-US" altLang="en-US" sz="1600" b="1">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Smaller than LLMs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Faster inference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Lower memory usage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Can run on edge devices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Lower power consumption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Easier and cheaper to deploy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Can be fine-tuned for specific tasks </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98145"/>
            <a:ext cx="8229600" cy="5870575"/>
          </a:xfrm>
        </p:spPr>
        <p:txBody>
          <a:bodyPr>
            <a:noAutofit/>
          </a:bodyPr>
          <a:lstStyle/>
          <a:p>
            <a:pPr marL="0" indent="0">
              <a:buNone/>
              <a:defRPr sz="2000"/>
            </a:pPr>
            <a:r>
              <a:rPr lang="en-US" altLang="en-US" sz="1600" b="1">
                <a:latin typeface="Times New Roman" panose="02020603050405020304" charset="0"/>
                <a:cs typeface="Times New Roman" panose="02020603050405020304" charset="0"/>
              </a:rPr>
              <a:t>How Does an SLM Work?</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The basic workflow is very similar to an LLM. The main difference is that it has fewer transformer layers and fewer parameters, making it faster and more efficient.</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Step-1: </a:t>
            </a:r>
            <a:r>
              <a:rPr lang="en-US" altLang="en-US" sz="1600">
                <a:latin typeface="Times New Roman" panose="02020603050405020304" charset="0"/>
                <a:cs typeface="Times New Roman" panose="02020603050405020304" charset="0"/>
              </a:rPr>
              <a:t>Input Collection: The user enters a sentence or prompt.</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Example: "Explain Artificial Intelligence."</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Step-2</a:t>
            </a:r>
            <a:r>
              <a:rPr lang="en-US" altLang="en-US" sz="1600">
                <a:latin typeface="Times New Roman" panose="02020603050405020304" charset="0"/>
                <a:cs typeface="Times New Roman" panose="02020603050405020304" charset="0"/>
              </a:rPr>
              <a:t>: Tokenization : The sentence is split into smaller units called tokens. Each token represents a word, subword, punctuation mark, or symbol.</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Step-3</a:t>
            </a:r>
            <a:r>
              <a:rPr lang="en-US" altLang="en-US" sz="1600">
                <a:latin typeface="Times New Roman" panose="02020603050405020304" charset="0"/>
                <a:cs typeface="Times New Roman" panose="02020603050405020304" charset="0"/>
              </a:rPr>
              <a:t>: Embedding : Each token is converted into a numerical vector called an embedding.</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Example: [0.21, -0.45, 0.67,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These vectors capture the semantic meaning of each token.</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Step-4</a:t>
            </a:r>
            <a:r>
              <a:rPr lang="en-US" altLang="en-US" sz="1600">
                <a:latin typeface="Times New Roman" panose="02020603050405020304" charset="0"/>
                <a:cs typeface="Times New Roman" panose="02020603050405020304" charset="0"/>
              </a:rPr>
              <a:t>: Positional Encoding; Since transformers process all tokens in parallel, positional information is added.The model now knows the order of the words.</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Step-5</a:t>
            </a:r>
            <a:r>
              <a:rPr lang="en-US" altLang="en-US" sz="1600">
                <a:latin typeface="Times New Roman" panose="02020603050405020304" charset="0"/>
                <a:cs typeface="Times New Roman" panose="02020603050405020304" charset="0"/>
              </a:rPr>
              <a:t>: Transformer Layers : The embeddings pass through several Transformer Decoder layers (for GPT-style SLMs).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sym typeface="+mn-ea"/>
              </a:rPr>
              <a:t>Decoder layers (for GPT-style SLMs).</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p:nvPr>
            <p:ph idx="1"/>
          </p:nvPr>
        </p:nvSpPr>
        <p:spPr>
          <a:xfrm>
            <a:off x="457200" y="327025"/>
            <a:ext cx="8229600" cy="6204585"/>
          </a:xfrm>
        </p:spPr>
        <p:txBody>
          <a:bodyPr>
            <a:noAutofit/>
          </a:bodyPr>
          <a:p>
            <a:pPr marL="0" indent="0">
              <a:buNone/>
            </a:pPr>
            <a:r>
              <a:rPr lang="en-US" altLang="en-US" sz="1600">
                <a:latin typeface="Times New Roman" panose="02020603050405020304" charset="0"/>
                <a:cs typeface="Times New Roman" panose="02020603050405020304" charset="0"/>
              </a:rPr>
              <a:t>Each layer performs:</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Multi-Head Self-Attention </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Feed Forward Neural Network </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Layer Normalization </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Residual Connections </a:t>
            </a:r>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Because SLMs have fewer layers than LLMs, they require less computation.</a:t>
            </a:r>
            <a:endParaRPr lang="en-US" altLang="en-US" sz="1600">
              <a:latin typeface="Times New Roman" panose="02020603050405020304" charset="0"/>
              <a:cs typeface="Times New Roman" panose="02020603050405020304" charset="0"/>
            </a:endParaRPr>
          </a:p>
          <a:p>
            <a:pPr marL="0" indent="0">
              <a:buNone/>
            </a:pPr>
            <a:endParaRPr lang="en-US" altLang="en-US" sz="1600">
              <a:latin typeface="Times New Roman" panose="02020603050405020304" charset="0"/>
              <a:cs typeface="Times New Roman" panose="02020603050405020304" charset="0"/>
            </a:endParaRPr>
          </a:p>
          <a:p>
            <a:pPr marL="0" indent="0">
              <a:buNone/>
            </a:pPr>
            <a:r>
              <a:rPr lang="en-US" altLang="en-US" sz="1600" b="1">
                <a:latin typeface="Times New Roman" panose="02020603050405020304" charset="0"/>
                <a:cs typeface="Times New Roman" panose="02020603050405020304" charset="0"/>
              </a:rPr>
              <a:t>Step-6:</a:t>
            </a:r>
            <a:r>
              <a:rPr lang="en-US" altLang="en-US" sz="1600">
                <a:latin typeface="Times New Roman" panose="02020603050405020304" charset="0"/>
                <a:cs typeface="Times New Roman" panose="02020603050405020304" charset="0"/>
              </a:rPr>
              <a:t> Self-Attention: The attention mechanism determines which words are most relevant to one another.</a:t>
            </a:r>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Example: Sentence: "The cat chased the mouse because it was hungry."</a:t>
            </a:r>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The model determines what "it" refers to by analyzing the context.</a:t>
            </a:r>
            <a:endParaRPr lang="en-US" altLang="en-US" sz="1600">
              <a:latin typeface="Times New Roman" panose="02020603050405020304" charset="0"/>
              <a:cs typeface="Times New Roman" panose="02020603050405020304" charset="0"/>
            </a:endParaRPr>
          </a:p>
          <a:p>
            <a:pPr marL="0" indent="0">
              <a:buNone/>
            </a:pPr>
            <a:endParaRPr lang="en-US" altLang="en-US" sz="1600">
              <a:latin typeface="Times New Roman" panose="02020603050405020304" charset="0"/>
              <a:cs typeface="Times New Roman" panose="02020603050405020304" charset="0"/>
            </a:endParaRPr>
          </a:p>
          <a:p>
            <a:pPr marL="0" indent="0">
              <a:buNone/>
            </a:pPr>
            <a:r>
              <a:rPr lang="en-US" altLang="en-US" sz="1600" b="1">
                <a:latin typeface="Times New Roman" panose="02020603050405020304" charset="0"/>
                <a:cs typeface="Times New Roman" panose="02020603050405020304" charset="0"/>
              </a:rPr>
              <a:t>Step-7:</a:t>
            </a:r>
            <a:r>
              <a:rPr lang="en-US" altLang="en-US" sz="1600">
                <a:latin typeface="Times New Roman" panose="02020603050405020304" charset="0"/>
                <a:cs typeface="Times New Roman" panose="02020603050405020304" charset="0"/>
              </a:rPr>
              <a:t> Probability Calculation: The final hidden representation is used to calculate the probability of the next token.</a:t>
            </a:r>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Example:   Input =&gt; Artificial Intelligence is</a:t>
            </a:r>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Predictions =&gt;changing → 60% , transforming → 20%, =&gt; important → 10% , growing → 10%</a:t>
            </a:r>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The highest-probability token is selected.</a:t>
            </a:r>
            <a:endParaRPr lang="en-US" altLang="en-US" sz="1600">
              <a:latin typeface="Times New Roman" panose="02020603050405020304" charset="0"/>
              <a:cs typeface="Times New Roman" panose="02020603050405020304" charset="0"/>
            </a:endParaRPr>
          </a:p>
          <a:p>
            <a:pPr marL="0" indent="0">
              <a:buNone/>
            </a:pPr>
            <a:endParaRPr lang="en-US" altLang="en-US" sz="1600">
              <a:latin typeface="Times New Roman" panose="02020603050405020304" charset="0"/>
              <a:cs typeface="Times New Roman" panose="02020603050405020304" charset="0"/>
            </a:endParaRPr>
          </a:p>
          <a:p>
            <a:pPr marL="0" indent="0">
              <a:buNone/>
            </a:pPr>
            <a:r>
              <a:rPr lang="en-US" altLang="en-US" sz="1600" b="1">
                <a:latin typeface="Times New Roman" panose="02020603050405020304" charset="0"/>
                <a:cs typeface="Times New Roman" panose="02020603050405020304" charset="0"/>
              </a:rPr>
              <a:t>Step-8: </a:t>
            </a:r>
            <a:r>
              <a:rPr lang="en-US" altLang="en-US" sz="1600">
                <a:latin typeface="Times New Roman" panose="02020603050405020304" charset="0"/>
                <a:cs typeface="Times New Roman" panose="02020603050405020304" charset="0"/>
              </a:rPr>
              <a:t>Output Generation: The process repeats until the complete response is generated.</a:t>
            </a:r>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Example: Artificial Intelligence is changing the world.</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2675</Words>
  <Application>WPS Presentation</Application>
  <PresentationFormat>On-screen Show (4:3)</PresentationFormat>
  <Paragraphs>55</Paragraphs>
  <Slides>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vt:i4>
      </vt:variant>
    </vt:vector>
  </HeadingPairs>
  <TitlesOfParts>
    <vt:vector size="13" baseType="lpstr">
      <vt:lpstr>Arial</vt:lpstr>
      <vt:lpstr>SimSun</vt:lpstr>
      <vt:lpstr>Wingdings</vt:lpstr>
      <vt:lpstr>Arial</vt:lpstr>
      <vt:lpstr>Times New Roman</vt:lpstr>
      <vt:lpstr>Microsoft YaHei</vt:lpstr>
      <vt:lpstr>Arial Unicode MS</vt:lpstr>
      <vt:lpstr>Calibri</vt:lpstr>
      <vt:lpstr>Office Theme</vt:lpstr>
      <vt:lpstr>AI Model Overview</vt:lpstr>
      <vt:lpstr>SAM Workflow</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SHIFA FATHIMA</cp:lastModifiedBy>
  <cp:revision>16</cp:revision>
  <dcterms:created xsi:type="dcterms:W3CDTF">2013-01-27T09:14:00Z</dcterms:created>
  <dcterms:modified xsi:type="dcterms:W3CDTF">2026-07-15T12:02:01Z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446E28FF2F1142B99E4417160E49D5F0_13</vt:lpwstr>
  </property>
  <property fmtid="{D5CDD505-2E9C-101B-9397-08002B2CF9AE}" pid="3" name="KSOProductBuildVer">
    <vt:lpwstr>1033-12.1.0.26880</vt:lpwstr>
  </property>
</Properties>
</file>