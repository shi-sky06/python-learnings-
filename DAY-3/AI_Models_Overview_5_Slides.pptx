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60" r:id="rId5"/>
    <p:sldId id="259" r:id="rId6"/>
    <p:sldId id="261" r:id="rId7"/>
    <p:sldId id="258"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85800" y="1235075"/>
            <a:ext cx="7424420" cy="3336925"/>
          </a:xfrm>
        </p:spPr>
        <p:txBody>
          <a:bodyPr/>
          <a:lstStyle/>
          <a:p>
            <a:r>
              <a:rPr sz="3600" b="1">
                <a:latin typeface="Times New Roman" panose="02020603050405020304" charset="0"/>
                <a:cs typeface="Times New Roman" panose="02020603050405020304" charset="0"/>
              </a:rPr>
              <a:t>AI Model Overview</a:t>
            </a:r>
            <a:endParaRPr sz="36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atin typeface="Times New Roman" panose="02020603050405020304" charset="0"/>
                <a:cs typeface="Times New Roman" panose="02020603050405020304" charset="0"/>
              </a:rPr>
              <a:t>LLM Workflow</a:t>
            </a:r>
            <a:endParaRPr>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lnSpcReduction="20000"/>
          </a:bodyPr>
          <a:lstStyle/>
          <a:p>
            <a:pPr marL="0" indent="0">
              <a:buNone/>
              <a:defRPr sz="2000"/>
            </a:pPr>
            <a:r>
              <a:rPr lang="en-US" b="1">
                <a:latin typeface="Times New Roman" panose="02020603050405020304" charset="0"/>
                <a:cs typeface="Times New Roman" panose="02020603050405020304" charset="0"/>
              </a:rPr>
              <a:t>LLM </a:t>
            </a:r>
            <a:r>
              <a:rPr lang="en-US">
                <a:latin typeface="Times New Roman" panose="02020603050405020304" charset="0"/>
                <a:cs typeface="Times New Roman" panose="02020603050405020304" charset="0"/>
              </a:rPr>
              <a:t>- </a:t>
            </a:r>
            <a:r>
              <a:rPr lang="en-US" altLang="en-US" sz="1800">
                <a:latin typeface="Times New Roman" panose="02020603050405020304" charset="0"/>
                <a:cs typeface="Times New Roman" panose="02020603050405020304" charset="0"/>
              </a:rPr>
              <a:t>A Large Language Model (LLM) is a type of artificial intelligence  model that is trained on vast amounts of text data to understand, generate, summarize, translate, and answer questions in human language.To understand and generate human language.</a:t>
            </a:r>
            <a:endParaRPr lang="en-US" altLang="en-US" sz="1800">
              <a:latin typeface="Times New Roman" panose="02020603050405020304" charset="0"/>
              <a:cs typeface="Times New Roman" panose="02020603050405020304" charset="0"/>
            </a:endParaRPr>
          </a:p>
          <a:p>
            <a:pPr marL="0" indent="0">
              <a:buNone/>
              <a:defRPr sz="2000"/>
            </a:pPr>
            <a:endParaRPr sz="1800">
              <a:latin typeface="Times New Roman" panose="02020603050405020304" charset="0"/>
              <a:cs typeface="Times New Roman" panose="02020603050405020304" charset="0"/>
            </a:endParaRPr>
          </a:p>
          <a:p>
            <a:pPr marL="0" indent="0">
              <a:buNone/>
              <a:defRPr sz="2000"/>
            </a:pPr>
            <a:r>
              <a:rPr lang="en-US" sz="1800">
                <a:latin typeface="Times New Roman" panose="02020603050405020304" charset="0"/>
                <a:cs typeface="Times New Roman" panose="02020603050405020304" charset="0"/>
              </a:rPr>
              <a:t>Working:</a:t>
            </a:r>
            <a:endParaRPr sz="1800">
              <a:latin typeface="Times New Roman" panose="02020603050405020304" charset="0"/>
              <a:cs typeface="Times New Roman" panose="02020603050405020304" charset="0"/>
            </a:endParaRPr>
          </a:p>
          <a:p>
            <a:pPr marL="0" indent="0">
              <a:buNone/>
              <a:defRPr sz="2000"/>
            </a:pPr>
            <a:r>
              <a:rPr sz="1800">
                <a:latin typeface="Times New Roman" panose="02020603050405020304" charset="0"/>
                <a:cs typeface="Times New Roman" panose="02020603050405020304" charset="0"/>
              </a:rPr>
              <a:t>Input → Tokenization → Embeddings → Transformer → Output</a:t>
            </a:r>
            <a:endParaRPr sz="1800">
              <a:latin typeface="Times New Roman" panose="02020603050405020304" charset="0"/>
              <a:cs typeface="Times New Roman" panose="02020603050405020304" charset="0"/>
            </a:endParaRPr>
          </a:p>
          <a:p>
            <a:pPr>
              <a:defRPr sz="2000"/>
            </a:pPr>
            <a:endParaRPr sz="1800">
              <a:latin typeface="Times New Roman" panose="02020603050405020304" charset="0"/>
              <a:cs typeface="Times New Roman" panose="02020603050405020304" charset="0"/>
            </a:endParaRPr>
          </a:p>
          <a:p>
            <a:pPr>
              <a:defRPr sz="2000"/>
            </a:pPr>
            <a:r>
              <a:rPr lang="en-US" sz="1800">
                <a:latin typeface="Times New Roman" panose="02020603050405020304" charset="0"/>
                <a:cs typeface="Times New Roman" panose="02020603050405020304" charset="0"/>
              </a:rPr>
              <a:t> Input is the </a:t>
            </a:r>
            <a:r>
              <a:rPr lang="en-US" altLang="en-US" sz="1800">
                <a:latin typeface="Times New Roman" panose="02020603050405020304" charset="0"/>
                <a:cs typeface="Times New Roman" panose="02020603050405020304" charset="0"/>
              </a:rPr>
              <a:t>information that the user enters</a:t>
            </a:r>
            <a:endParaRPr lang="en-US" altLang="en-US" sz="1800">
              <a:latin typeface="Times New Roman" panose="02020603050405020304" charset="0"/>
              <a:cs typeface="Times New Roman" panose="02020603050405020304" charset="0"/>
            </a:endParaRPr>
          </a:p>
          <a:p>
            <a:pPr>
              <a:buFont typeface="Arial" panose="020B0604020202020204" pitchFamily="34" charset="0"/>
              <a:buChar char="•"/>
              <a:defRPr sz="2000"/>
            </a:pPr>
            <a:r>
              <a:rPr sz="1800">
                <a:latin typeface="Times New Roman" panose="02020603050405020304" charset="0"/>
                <a:cs typeface="Times New Roman" panose="02020603050405020304" charset="0"/>
              </a:rPr>
              <a:t> Tokenization splits text into tokens</a:t>
            </a:r>
            <a:endParaRPr sz="1800">
              <a:latin typeface="Times New Roman" panose="02020603050405020304" charset="0"/>
              <a:cs typeface="Times New Roman" panose="02020603050405020304" charset="0"/>
            </a:endParaRPr>
          </a:p>
          <a:p>
            <a:pPr>
              <a:buFont typeface="Arial" panose="020B0604020202020204" pitchFamily="34" charset="0"/>
              <a:buChar char="•"/>
              <a:defRPr sz="2000"/>
            </a:pPr>
            <a:r>
              <a:rPr sz="1800">
                <a:latin typeface="Times New Roman" panose="02020603050405020304" charset="0"/>
                <a:cs typeface="Times New Roman" panose="02020603050405020304" charset="0"/>
              </a:rPr>
              <a:t> Embeddings convert tokens to vectors</a:t>
            </a:r>
            <a:endParaRPr sz="1800">
              <a:latin typeface="Times New Roman" panose="02020603050405020304" charset="0"/>
              <a:cs typeface="Times New Roman" panose="02020603050405020304" charset="0"/>
            </a:endParaRPr>
          </a:p>
          <a:p>
            <a:pPr>
              <a:buFont typeface="Arial" panose="020B0604020202020204" pitchFamily="34" charset="0"/>
              <a:buChar char="•"/>
              <a:defRPr sz="2000"/>
            </a:pPr>
            <a:r>
              <a:rPr sz="1800">
                <a:latin typeface="Times New Roman" panose="02020603050405020304" charset="0"/>
                <a:cs typeface="Times New Roman" panose="02020603050405020304" charset="0"/>
              </a:rPr>
              <a:t> Transformer understands context and predicts next token</a:t>
            </a:r>
            <a:endParaRPr sz="1800">
              <a:latin typeface="Times New Roman" panose="02020603050405020304" charset="0"/>
              <a:cs typeface="Times New Roman" panose="02020603050405020304" charset="0"/>
            </a:endParaRPr>
          </a:p>
          <a:p>
            <a:pPr>
              <a:buFont typeface="Arial" panose="020B0604020202020204" pitchFamily="34" charset="0"/>
              <a:buChar char="•"/>
              <a:defRPr sz="2000"/>
            </a:pPr>
            <a:r>
              <a:rPr sz="1800">
                <a:latin typeface="Times New Roman" panose="02020603050405020304" charset="0"/>
                <a:cs typeface="Times New Roman" panose="02020603050405020304" charset="0"/>
              </a:rPr>
              <a:t> Used in ChatGPT, Gemini, Claude</a:t>
            </a:r>
            <a:endParaRPr sz="18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98145"/>
            <a:ext cx="8229600" cy="5870575"/>
          </a:xfrm>
        </p:spPr>
        <p:txBody>
          <a:bodyPr>
            <a:noAutofit/>
          </a:bodyPr>
          <a:lstStyle/>
          <a:p>
            <a:pPr marL="0" indent="0">
              <a:buNone/>
              <a:defRPr sz="2000"/>
            </a:pPr>
            <a:r>
              <a:rPr lang="en-US" altLang="en-US" sz="1400">
                <a:latin typeface="Times New Roman" panose="02020603050405020304" charset="0"/>
                <a:cs typeface="Times New Roman" panose="02020603050405020304" charset="0"/>
              </a:rPr>
              <a:t>How Does an LLM Work? </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Step-1: Input collections:</a:t>
            </a:r>
            <a:r>
              <a:rPr lang="en-US" altLang="en-US" sz="1400">
                <a:latin typeface="Times New Roman" panose="02020603050405020304" charset="0"/>
                <a:cs typeface="Times New Roman" panose="02020603050405020304" charset="0"/>
              </a:rPr>
              <a:t> you type a prompt -----&gt; The text is sent to the LLM server. </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Step-2: Tokenization: </a:t>
            </a:r>
            <a:r>
              <a:rPr lang="en-US" altLang="en-US" sz="1400">
                <a:latin typeface="Times New Roman" panose="02020603050405020304" charset="0"/>
                <a:cs typeface="Times New Roman" panose="02020603050405020304" charset="0"/>
              </a:rPr>
              <a:t>The LLM does not read words like humans do. It first converts your sentence into tokens (small pieces of text).   ------&gt; Each token is converted into a number. </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Step 3: Convert Tokens into Vectors (Embeddings) </a:t>
            </a:r>
            <a:endParaRPr lang="en-US" altLang="en-US" sz="1400" b="1">
              <a:latin typeface="Times New Roman" panose="02020603050405020304" charset="0"/>
              <a:cs typeface="Times New Roman" panose="02020603050405020304" charset="0"/>
            </a:endParaRPr>
          </a:p>
          <a:p>
            <a:pPr marL="0" indent="0">
              <a:buNone/>
              <a:defRPr sz="2000"/>
            </a:pPr>
            <a:r>
              <a:rPr lang="en-US" altLang="en-US" sz="1400">
                <a:latin typeface="Times New Roman" panose="02020603050405020304" charset="0"/>
                <a:cs typeface="Times New Roman" panose="02020603050405020304" charset="0"/>
              </a:rPr>
              <a:t>Embedding: A embedding is a list of numbers that represents the meaning of a word, sentence, image, or document. Words with similar meanings have similar vectors.  This helps the model understand relationships between words. </a:t>
            </a:r>
            <a:endParaRPr lang="en-US" altLang="en-US" sz="1400">
              <a:latin typeface="Times New Roman" panose="02020603050405020304" charset="0"/>
              <a:cs typeface="Times New Roman" panose="02020603050405020304" charset="0"/>
            </a:endParaRPr>
          </a:p>
          <a:p>
            <a:pPr marL="0" indent="0">
              <a:buNone/>
              <a:defRPr sz="2000"/>
            </a:pPr>
            <a:r>
              <a:rPr lang="en-US" altLang="en-US" sz="1400">
                <a:latin typeface="Times New Roman" panose="02020603050405020304" charset="0"/>
                <a:cs typeface="Times New Roman" panose="02020603050405020304" charset="0"/>
              </a:rPr>
              <a:t>Eg: cat- [1.2, 2.1, 0.5]   dog - [1.2, 2.0, 0.6] </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Step-4</a:t>
            </a:r>
            <a:r>
              <a:rPr lang="en-US" altLang="en-US" sz="1400">
                <a:latin typeface="Times New Roman" panose="02020603050405020304" charset="0"/>
                <a:cs typeface="Times New Roman" panose="02020603050405020304" charset="0"/>
              </a:rPr>
              <a:t>: Transformer: Reads all token vectors together using self-attention and updates them based on context. </a:t>
            </a:r>
            <a:endParaRPr lang="en-US" altLang="en-US" sz="1400">
              <a:latin typeface="Times New Roman" panose="02020603050405020304" charset="0"/>
              <a:cs typeface="Times New Roman" panose="02020603050405020304" charset="0"/>
            </a:endParaRPr>
          </a:p>
          <a:p>
            <a:pPr marL="0" indent="0">
              <a:buNone/>
              <a:defRPr sz="2000"/>
            </a:pPr>
            <a:r>
              <a:rPr lang="en-US" altLang="en-US" sz="1400">
                <a:latin typeface="Times New Roman" panose="02020603050405020304" charset="0"/>
                <a:cs typeface="Times New Roman" panose="02020603050405020304" charset="0"/>
              </a:rPr>
              <a:t>The Transformer processes all token embeddings simultaneously to understand the context of the entire sentence. </a:t>
            </a:r>
            <a:endParaRPr lang="en-US" altLang="en-US" sz="1400">
              <a:latin typeface="Times New Roman" panose="02020603050405020304" charset="0"/>
              <a:cs typeface="Times New Roman" panose="02020603050405020304" charset="0"/>
            </a:endParaRPr>
          </a:p>
          <a:p>
            <a:pPr marL="0" indent="0">
              <a:buNone/>
              <a:defRPr sz="2000"/>
            </a:pPr>
            <a:r>
              <a:rPr lang="en-US" altLang="en-US" sz="1400">
                <a:latin typeface="Times New Roman" panose="02020603050405020304" charset="0"/>
                <a:cs typeface="Times New Roman" panose="02020603050405020304" charset="0"/>
              </a:rPr>
              <a:t>Then  Next Token Prediction- The model calculates the probability of all possible next tokens and selects the most likely one based on the context. </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Response Generation</a:t>
            </a:r>
            <a:r>
              <a:rPr lang="en-US" altLang="en-US" sz="1400">
                <a:latin typeface="Times New Roman" panose="02020603050405020304" charset="0"/>
                <a:cs typeface="Times New Roman" panose="02020603050405020304" charset="0"/>
              </a:rPr>
              <a:t>-- The selected token is added to the input, and the model repeats the prediction process until the complete response is generated. </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Step-5</a:t>
            </a:r>
            <a:r>
              <a:rPr lang="en-US" altLang="en-US" sz="1400">
                <a:latin typeface="Times New Roman" panose="02020603050405020304" charset="0"/>
                <a:cs typeface="Times New Roman" panose="02020603050405020304" charset="0"/>
              </a:rPr>
              <a:t>: Final Output : Once the model predicts an end-of-sequence token (a special token that indicates the response is complete), it stops generating and sends the final text to you. </a:t>
            </a:r>
            <a:endParaRPr lang="en-US" altLang="en-US" sz="14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LCM Workflow</a:t>
            </a:r>
          </a:p>
        </p:txBody>
      </p:sp>
      <p:sp>
        <p:nvSpPr>
          <p:cNvPr id="3" name="Content Placeholder 2"/>
          <p:cNvSpPr>
            <a:spLocks noGrp="1"/>
          </p:cNvSpPr>
          <p:nvPr>
            <p:ph idx="1"/>
          </p:nvPr>
        </p:nvSpPr>
        <p:spPr>
          <a:xfrm>
            <a:off x="457200" y="1417955"/>
            <a:ext cx="8229600" cy="4906010"/>
          </a:xfrm>
        </p:spPr>
        <p:txBody>
          <a:bodyPr>
            <a:normAutofit fontScale="25000"/>
          </a:bodyPr>
          <a:lstStyle/>
          <a:p>
            <a:pPr marL="0" indent="0">
              <a:buNone/>
              <a:defRPr sz="2000"/>
            </a:pPr>
            <a:r>
              <a:rPr lang="en-US" altLang="en-US" sz="6665" b="1">
                <a:latin typeface="Times New Roman" panose="02020603050405020304" charset="0"/>
                <a:cs typeface="Times New Roman" panose="02020603050405020304" charset="0"/>
              </a:rPr>
              <a:t>LCM (Large Concept Model):</a:t>
            </a:r>
            <a:endParaRPr lang="en-US" altLang="en-US" sz="6665" b="1">
              <a:latin typeface="Times New Roman" panose="02020603050405020304" charset="0"/>
              <a:cs typeface="Times New Roman" panose="02020603050405020304" charset="0"/>
            </a:endParaRPr>
          </a:p>
          <a:p>
            <a:pPr marL="0" indent="0">
              <a:buNone/>
              <a:defRPr sz="2000"/>
            </a:pPr>
            <a:r>
              <a:rPr lang="en-US" altLang="en-US" sz="5600">
                <a:latin typeface="Times New Roman" panose="02020603050405020304" charset="0"/>
                <a:cs typeface="Times New Roman" panose="02020603050405020304" charset="0"/>
              </a:rPr>
              <a:t>A Large Concept Model (LCM) is an advanced artificial intelligence model designed to understand and reason about concepts rather than just predicting the next word. It processes information at the sentence or concept level, enabling deeper understanding and improved reasoning across related ideas.</a:t>
            </a:r>
            <a:endParaRPr lang="en-US" altLang="en-US" sz="5600">
              <a:latin typeface="Times New Roman" panose="02020603050405020304" charset="0"/>
              <a:cs typeface="Times New Roman" panose="02020603050405020304" charset="0"/>
            </a:endParaRPr>
          </a:p>
          <a:p>
            <a:pPr marL="0" indent="0">
              <a:buNone/>
              <a:defRPr sz="2000"/>
            </a:pPr>
            <a:endParaRPr lang="en-US" altLang="en-US" sz="5600">
              <a:latin typeface="Times New Roman" panose="02020603050405020304" charset="0"/>
              <a:cs typeface="Times New Roman" panose="02020603050405020304" charset="0"/>
            </a:endParaRPr>
          </a:p>
          <a:p>
            <a:pPr marL="0" indent="0">
              <a:buNone/>
              <a:defRPr sz="2000"/>
            </a:pPr>
            <a:r>
              <a:rPr lang="en-US" altLang="en-US" sz="5600">
                <a:latin typeface="Times New Roman" panose="02020603050405020304" charset="0"/>
                <a:cs typeface="Times New Roman" panose="02020603050405020304" charset="0"/>
              </a:rPr>
              <a:t>Working:</a:t>
            </a:r>
            <a:endParaRPr lang="en-US" altLang="en-US" sz="5600">
              <a:latin typeface="Times New Roman" panose="02020603050405020304" charset="0"/>
              <a:cs typeface="Times New Roman" panose="02020603050405020304" charset="0"/>
            </a:endParaRPr>
          </a:p>
          <a:p>
            <a:pPr marL="0" indent="0">
              <a:buNone/>
              <a:defRPr sz="2000"/>
            </a:pPr>
            <a:r>
              <a:rPr lang="en-US" altLang="en-US" sz="5600">
                <a:latin typeface="Times New Roman" panose="02020603050405020304" charset="0"/>
                <a:cs typeface="Times New Roman" panose="02020603050405020304" charset="0"/>
              </a:rPr>
              <a:t>Input → Sentence Segmentation → SONAR Embedding → Concept Processing (Diffusion/Hidden Process) → Quantization → Output</a:t>
            </a:r>
            <a:endParaRPr lang="en-US" altLang="en-US" sz="5600">
              <a:latin typeface="Times New Roman" panose="02020603050405020304" charset="0"/>
              <a:cs typeface="Times New Roman" panose="02020603050405020304" charset="0"/>
            </a:endParaRPr>
          </a:p>
          <a:p>
            <a:pPr marL="0" indent="0">
              <a:buNone/>
              <a:defRPr sz="2000"/>
            </a:pPr>
            <a:endParaRPr lang="en-US" altLang="en-US" sz="5600">
              <a:latin typeface="Times New Roman" panose="02020603050405020304" charset="0"/>
              <a:cs typeface="Times New Roman" panose="02020603050405020304" charset="0"/>
            </a:endParaRPr>
          </a:p>
          <a:p>
            <a:pPr>
              <a:defRPr sz="2000"/>
            </a:pPr>
            <a:r>
              <a:rPr lang="en-US" altLang="en-US" sz="5600">
                <a:latin typeface="Times New Roman" panose="02020603050405020304" charset="0"/>
                <a:cs typeface="Times New Roman" panose="02020603050405020304" charset="0"/>
              </a:rPr>
              <a:t>Input: The user enters text, a question, or a document.</a:t>
            </a:r>
            <a:endParaRPr lang="en-US" altLang="en-US" sz="5600">
              <a:latin typeface="Times New Roman" panose="02020603050405020304" charset="0"/>
              <a:cs typeface="Times New Roman" panose="02020603050405020304" charset="0"/>
            </a:endParaRPr>
          </a:p>
          <a:p>
            <a:pPr>
              <a:defRPr sz="2000"/>
            </a:pPr>
            <a:r>
              <a:rPr lang="en-US" altLang="en-US" sz="5600">
                <a:latin typeface="Times New Roman" panose="02020603050405020304" charset="0"/>
                <a:cs typeface="Times New Roman" panose="02020603050405020304" charset="0"/>
              </a:rPr>
              <a:t>Sentence Segmentation: The input is divided into meaningful sentences or concepts instead of individual words.</a:t>
            </a:r>
            <a:endParaRPr lang="en-US" altLang="en-US" sz="5600">
              <a:latin typeface="Times New Roman" panose="02020603050405020304" charset="0"/>
              <a:cs typeface="Times New Roman" panose="02020603050405020304" charset="0"/>
            </a:endParaRPr>
          </a:p>
          <a:p>
            <a:pPr>
              <a:defRPr sz="2000"/>
            </a:pPr>
            <a:r>
              <a:rPr lang="en-US" altLang="en-US" sz="5600">
                <a:latin typeface="Times New Roman" panose="02020603050405020304" charset="0"/>
                <a:cs typeface="Times New Roman" panose="02020603050405020304" charset="0"/>
              </a:rPr>
              <a:t>SONAR Embedding: Each sentence or concept is converted into a numerical representation (embedding) that captures its meaning.</a:t>
            </a:r>
            <a:endParaRPr lang="en-US" altLang="en-US" sz="5600">
              <a:latin typeface="Times New Roman" panose="02020603050405020304" charset="0"/>
              <a:cs typeface="Times New Roman" panose="02020603050405020304" charset="0"/>
            </a:endParaRPr>
          </a:p>
          <a:p>
            <a:pPr>
              <a:defRPr sz="2000"/>
            </a:pPr>
            <a:r>
              <a:rPr lang="en-US" altLang="en-US" sz="5600">
                <a:latin typeface="Times New Roman" panose="02020603050405020304" charset="0"/>
                <a:cs typeface="Times New Roman" panose="02020603050405020304" charset="0"/>
              </a:rPr>
              <a:t>Concept Processing (Diffusion/Hidden Process): The model analyzes relationships between concepts, identifies patterns, and performs deeper reasoning to understand the context.</a:t>
            </a:r>
            <a:endParaRPr lang="en-US" altLang="en-US" sz="5600">
              <a:latin typeface="Times New Roman" panose="02020603050405020304" charset="0"/>
              <a:cs typeface="Times New Roman" panose="02020603050405020304" charset="0"/>
            </a:endParaRPr>
          </a:p>
          <a:p>
            <a:pPr>
              <a:defRPr sz="2000"/>
            </a:pPr>
            <a:r>
              <a:rPr lang="en-US" altLang="en-US" sz="5600">
                <a:latin typeface="Times New Roman" panose="02020603050405020304" charset="0"/>
                <a:cs typeface="Times New Roman" panose="02020603050405020304" charset="0"/>
              </a:rPr>
              <a:t>Quantization: The processed information is optimized by reducing model size and computation, making the model faster and more efficient.</a:t>
            </a:r>
            <a:endParaRPr lang="en-US" altLang="en-US" sz="5600">
              <a:latin typeface="Times New Roman" panose="02020603050405020304" charset="0"/>
              <a:cs typeface="Times New Roman" panose="02020603050405020304" charset="0"/>
            </a:endParaRPr>
          </a:p>
          <a:p>
            <a:pPr>
              <a:defRPr sz="2000"/>
            </a:pPr>
            <a:r>
              <a:rPr lang="en-US" altLang="en-US" sz="5600">
                <a:latin typeface="Times New Roman" panose="02020603050405020304" charset="0"/>
                <a:cs typeface="Times New Roman" panose="02020603050405020304" charset="0"/>
              </a:rPr>
              <a:t>Output: The model generates a conceptually accurate and meaningful response.</a:t>
            </a:r>
            <a:endParaRPr lang="en-US" altLang="en-US" sz="56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p:nvPr>
            <p:ph idx="1"/>
          </p:nvPr>
        </p:nvSpPr>
        <p:spPr>
          <a:xfrm>
            <a:off x="457200" y="242570"/>
            <a:ext cx="8229600" cy="6204585"/>
          </a:xfrm>
        </p:spPr>
        <p:txBody>
          <a:bodyPr>
            <a:normAutofit lnSpcReduction="10000"/>
          </a:bodyPr>
          <a:p>
            <a:pPr marL="0" indent="0">
              <a:buNone/>
            </a:pPr>
            <a:r>
              <a:rPr lang="en-US" altLang="en-US" sz="1600" b="1">
                <a:latin typeface="Times New Roman" panose="02020603050405020304" charset="0"/>
                <a:cs typeface="Times New Roman" panose="02020603050405020304" charset="0"/>
              </a:rPr>
              <a:t>How LCM Works:</a:t>
            </a:r>
            <a:endParaRPr lang="en-US" altLang="en-US" sz="1600" b="1">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Input </a:t>
            </a:r>
            <a:r>
              <a:rPr lang="en-US" altLang="en-US" sz="1600">
                <a:latin typeface="Times New Roman" panose="02020603050405020304" charset="0"/>
                <a:cs typeface="Times New Roman" panose="02020603050405020304" charset="0"/>
              </a:rPr>
              <a:t>– Receives the user's query and Understand the question.</a:t>
            </a:r>
            <a:endParaRPr lang="en-US" altLang="en-US" sz="1600">
              <a:latin typeface="Times New Roman" panose="02020603050405020304" charset="0"/>
              <a:cs typeface="Times New Roman" panose="02020603050405020304" charset="0"/>
            </a:endParaRPr>
          </a:p>
          <a:p>
            <a:pPr marL="0" indent="0">
              <a:buNone/>
            </a:pPr>
            <a:endParaRPr lang="en-US" altLang="en-US" sz="1600">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Sentence Segmentation –</a:t>
            </a:r>
            <a:r>
              <a:rPr lang="en-US" altLang="en-US" sz="1600">
                <a:latin typeface="Times New Roman" panose="02020603050405020304" charset="0"/>
                <a:cs typeface="Times New Roman" panose="02020603050405020304" charset="0"/>
              </a:rPr>
              <a:t> The input is divided into meaningful sentences or semantic chunks.Splits text into meaningful chunks.</a:t>
            </a:r>
            <a:endParaRPr lang="en-US" altLang="en-US" sz="1600">
              <a:latin typeface="Times New Roman" panose="02020603050405020304" charset="0"/>
              <a:cs typeface="Times New Roman" panose="02020603050405020304" charset="0"/>
            </a:endParaRPr>
          </a:p>
          <a:p>
            <a:endParaRPr lang="en-US" altLang="en-US" sz="1600">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SONAR Embeddings</a:t>
            </a:r>
            <a:r>
              <a:rPr lang="en-US" altLang="en-US" sz="1600">
                <a:latin typeface="Times New Roman" panose="02020603050405020304" charset="0"/>
                <a:cs typeface="Times New Roman" panose="02020603050405020304" charset="0"/>
              </a:rPr>
              <a:t> – Converts each sentence into a semantic vector. SONAR embeddings capture the meaning of the whole sentence.</a:t>
            </a:r>
            <a:endParaRPr lang="en-US" altLang="en-US" sz="1600">
              <a:latin typeface="Times New Roman" panose="02020603050405020304" charset="0"/>
              <a:cs typeface="Times New Roman" panose="02020603050405020304" charset="0"/>
            </a:endParaRPr>
          </a:p>
          <a:p>
            <a:endParaRPr lang="en-US" altLang="en-US" sz="1600">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Diffusion –</a:t>
            </a:r>
            <a:r>
              <a:rPr lang="en-US" altLang="en-US" sz="1600">
                <a:latin typeface="Times New Roman" panose="02020603050405020304" charset="0"/>
                <a:cs typeface="Times New Roman" panose="02020603050405020304" charset="0"/>
              </a:rPr>
              <a:t> Refines concept representations.</a:t>
            </a:r>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The diffusion model refines these concept embeddings over multiple steps.Instead of predicting the next word, it predicts the next concept representation.</a:t>
            </a:r>
            <a:endParaRPr lang="en-US" altLang="en-US" sz="1600">
              <a:latin typeface="Times New Roman" panose="02020603050405020304" charset="0"/>
              <a:cs typeface="Times New Roman" panose="02020603050405020304" charset="0"/>
            </a:endParaRPr>
          </a:p>
          <a:p>
            <a:pPr marL="0" indent="0">
              <a:buNone/>
            </a:pPr>
            <a:endParaRPr lang="en-US" altLang="en-US" sz="1600">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Hidden Process:</a:t>
            </a:r>
            <a:r>
              <a:rPr lang="en-US" altLang="en-US" sz="1600">
                <a:latin typeface="Times New Roman" panose="02020603050405020304" charset="0"/>
                <a:cs typeface="Times New Roman" panose="02020603050405020304" charset="0"/>
              </a:rPr>
              <a:t> the model understands how these concepts are connected.</a:t>
            </a:r>
            <a:endParaRPr lang="en-US" altLang="en-US" sz="1600">
              <a:latin typeface="Times New Roman" panose="02020603050405020304" charset="0"/>
              <a:cs typeface="Times New Roman" panose="02020603050405020304" charset="0"/>
            </a:endParaRPr>
          </a:p>
          <a:p>
            <a:endParaRPr lang="en-US" altLang="en-US" sz="1600">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Reasoning:  </a:t>
            </a:r>
            <a:r>
              <a:rPr lang="en-US" altLang="en-US" sz="1600">
                <a:latin typeface="Times New Roman" panose="02020603050405020304" charset="0"/>
                <a:cs typeface="Times New Roman" panose="02020603050405020304" charset="0"/>
              </a:rPr>
              <a:t>the model organizes the concepts into a logical sequence before generating the final response</a:t>
            </a:r>
            <a:r>
              <a:rPr lang="en-US" altLang="en-US" sz="1600" b="1">
                <a:latin typeface="Times New Roman" panose="02020603050405020304" charset="0"/>
                <a:cs typeface="Times New Roman" panose="02020603050405020304" charset="0"/>
              </a:rPr>
              <a:t>. </a:t>
            </a:r>
            <a:endParaRPr lang="en-US" altLang="en-US" sz="1600" b="1">
              <a:latin typeface="Times New Roman" panose="02020603050405020304" charset="0"/>
              <a:cs typeface="Times New Roman" panose="02020603050405020304" charset="0"/>
            </a:endParaRPr>
          </a:p>
          <a:p>
            <a:pPr marL="0" indent="0">
              <a:buNone/>
            </a:pPr>
            <a:endParaRPr lang="en-US" altLang="en-US" sz="1600" b="1">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Planning –</a:t>
            </a:r>
            <a:r>
              <a:rPr lang="en-US" altLang="en-US" sz="1600">
                <a:latin typeface="Times New Roman" panose="02020603050405020304" charset="0"/>
                <a:cs typeface="Times New Roman" panose="02020603050405020304" charset="0"/>
              </a:rPr>
              <a:t> Connects concepts and organizes the response.</a:t>
            </a:r>
            <a:endParaRPr lang="en-US" altLang="en-US" sz="1600">
              <a:latin typeface="Times New Roman" panose="02020603050405020304" charset="0"/>
              <a:cs typeface="Times New Roman" panose="02020603050405020304" charset="0"/>
            </a:endParaRPr>
          </a:p>
          <a:p>
            <a:pPr marL="0" indent="0">
              <a:buNone/>
            </a:pPr>
            <a:endParaRPr lang="en-US" altLang="en-US" sz="1600">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Quantization </a:t>
            </a:r>
            <a:r>
              <a:rPr lang="en-US" altLang="en-US" sz="1600">
                <a:latin typeface="Times New Roman" panose="02020603050405020304" charset="0"/>
                <a:cs typeface="Times New Roman" panose="02020603050405020304" charset="0"/>
              </a:rPr>
              <a:t>– Optimizes the model for faster inference.</a:t>
            </a:r>
            <a:endParaRPr lang="en-US" altLang="en-US" sz="1600">
              <a:latin typeface="Times New Roman" panose="02020603050405020304" charset="0"/>
              <a:cs typeface="Times New Roman" panose="02020603050405020304" charset="0"/>
            </a:endParaRPr>
          </a:p>
          <a:p>
            <a:pPr marL="0" indent="0">
              <a:buNone/>
            </a:pPr>
            <a:endParaRPr lang="en-US" altLang="en-US" sz="1600">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Output </a:t>
            </a:r>
            <a:r>
              <a:rPr lang="en-US" altLang="en-US" sz="1600">
                <a:latin typeface="Times New Roman" panose="02020603050405020304" charset="0"/>
                <a:cs typeface="Times New Roman" panose="02020603050405020304" charset="0"/>
              </a:rPr>
              <a:t>– Generates the final response.</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3600">
                <a:latin typeface="Times New Roman" panose="02020603050405020304" charset="0"/>
                <a:cs typeface="Times New Roman" panose="02020603050405020304" charset="0"/>
              </a:rPr>
              <a:t>Other AI Models</a:t>
            </a:r>
            <a:endParaRPr sz="3600">
              <a:latin typeface="Times New Roman" panose="02020603050405020304" charset="0"/>
              <a:cs typeface="Times New Roman" panose="02020603050405020304" charset="0"/>
            </a:endParaRPr>
          </a:p>
        </p:txBody>
      </p:sp>
      <p:graphicFrame>
        <p:nvGraphicFramePr>
          <p:cNvPr id="6" name="Table 5"/>
          <p:cNvGraphicFramePr/>
          <p:nvPr/>
        </p:nvGraphicFramePr>
        <p:xfrm>
          <a:off x="640080" y="1417955"/>
          <a:ext cx="7863840" cy="4685030"/>
        </p:xfrm>
        <a:graphic>
          <a:graphicData uri="http://schemas.openxmlformats.org/drawingml/2006/table">
            <a:tbl>
              <a:tblPr/>
              <a:tblGrid>
                <a:gridCol w="2621280"/>
                <a:gridCol w="2621280"/>
                <a:gridCol w="2621280"/>
              </a:tblGrid>
              <a:tr h="247015">
                <a:tc>
                  <a:txBody>
                    <a:bodyPr/>
                    <a:p>
                      <a:r>
                        <a:rPr sz="1400">
                          <a:latin typeface="Times New Roman" panose="02020603050405020304" charset="0"/>
                          <a:cs typeface="Times New Roman" panose="02020603050405020304" charset="0"/>
                        </a:rPr>
                        <a:t>Model</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Why is it used?</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Example</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r>
              <a:tr h="492760">
                <a:tc>
                  <a:txBody>
                    <a:bodyPr/>
                    <a:p>
                      <a:r>
                        <a:rPr sz="1400">
                          <a:latin typeface="Times New Roman" panose="02020603050405020304" charset="0"/>
                          <a:cs typeface="Times New Roman" panose="02020603050405020304" charset="0"/>
                        </a:rPr>
                        <a:t>LLM (Large Language Model)</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To understand and generate human language.</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ChatGPT answering questions, writing emails, translating text.</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r>
              <a:tr h="492760">
                <a:tc>
                  <a:txBody>
                    <a:bodyPr/>
                    <a:p>
                      <a:r>
                        <a:rPr sz="1400">
                          <a:latin typeface="Times New Roman" panose="02020603050405020304" charset="0"/>
                          <a:cs typeface="Times New Roman" panose="02020603050405020304" charset="0"/>
                        </a:rPr>
                        <a:t>LAM (Large Action Model)</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To perform tasks or actions instead of only giving text.</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Booking tickets, sending emails, scheduling meetings.</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r>
              <a:tr h="739775">
                <a:tc>
                  <a:txBody>
                    <a:bodyPr/>
                    <a:p>
                      <a:r>
                        <a:rPr sz="1400">
                          <a:latin typeface="Times New Roman" panose="02020603050405020304" charset="0"/>
                          <a:cs typeface="Times New Roman" panose="02020603050405020304" charset="0"/>
                        </a:rPr>
                        <a:t>MoE (Mixture of Experts)</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To improve efficiency by using specialized expert models for different tasks.</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A coding expert answers programming questions while a math expert solves equations.</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r>
              <a:tr h="493395">
                <a:tc>
                  <a:txBody>
                    <a:bodyPr/>
                    <a:p>
                      <a:r>
                        <a:rPr sz="1400">
                          <a:latin typeface="Times New Roman" panose="02020603050405020304" charset="0"/>
                          <a:cs typeface="Times New Roman" panose="02020603050405020304" charset="0"/>
                        </a:rPr>
                        <a:t>VLM (Vision-Language Model)</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To understand both images and text together.</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Identifying objects in an image or answering questions about a photo.</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r>
              <a:tr h="493395">
                <a:tc>
                  <a:txBody>
                    <a:bodyPr/>
                    <a:p>
                      <a:r>
                        <a:rPr sz="1400">
                          <a:latin typeface="Times New Roman" panose="02020603050405020304" charset="0"/>
                          <a:cs typeface="Times New Roman" panose="02020603050405020304" charset="0"/>
                        </a:rPr>
                        <a:t>SLM (Small Language Model)</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To run AI on devices with limited memory and processing power.</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AI assistants on smartphones or IoT devices.</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r>
              <a:tr h="493395">
                <a:tc>
                  <a:txBody>
                    <a:bodyPr/>
                    <a:p>
                      <a:r>
                        <a:rPr sz="1400">
                          <a:latin typeface="Times New Roman" panose="02020603050405020304" charset="0"/>
                          <a:cs typeface="Times New Roman" panose="02020603050405020304" charset="0"/>
                        </a:rPr>
                        <a:t>MLM (Masked Language Model)</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To learn language by predicting missing words during training.</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Completing "The capital of India is [MASK]" → "New Delhi". Used in BERT.</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r>
              <a:tr h="492760">
                <a:tc>
                  <a:txBody>
                    <a:bodyPr/>
                    <a:p>
                      <a:r>
                        <a:rPr sz="1400">
                          <a:latin typeface="Times New Roman" panose="02020603050405020304" charset="0"/>
                          <a:cs typeface="Times New Roman" panose="02020603050405020304" charset="0"/>
                        </a:rPr>
                        <a:t>SAM (Segment Anything Model)</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To identify and separate objects in images.</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Detecting cars, people, or ships in an image for image editing or medical imaging.</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r>
              <a:tr h="739775">
                <a:tc>
                  <a:txBody>
                    <a:bodyPr/>
                    <a:p>
                      <a:r>
                        <a:rPr sz="1400">
                          <a:latin typeface="Times New Roman" panose="02020603050405020304" charset="0"/>
                          <a:cs typeface="Times New Roman" panose="02020603050405020304" charset="0"/>
                        </a:rPr>
                        <a:t>LCM (Large Concept Model)</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To understand concepts and perform deeper reasoning rather than just predicting words.</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c>
                  <a:txBody>
                    <a:bodyPr/>
                    <a:p>
                      <a:r>
                        <a:rPr sz="1400">
                          <a:latin typeface="Times New Roman" panose="02020603050405020304" charset="0"/>
                          <a:cs typeface="Times New Roman" panose="02020603050405020304" charset="0"/>
                        </a:rPr>
                        <a:t>Answering complex reasoning questions, summarizing documents, understanding relationships between ideas.</a:t>
                      </a:r>
                      <a:endParaRPr sz="1400">
                        <a:latin typeface="Times New Roman" panose="02020603050405020304" charset="0"/>
                        <a:cs typeface="Times New Roman" panose="02020603050405020304"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5156</Words>
  <Application>WPS Presentation</Application>
  <PresentationFormat>On-screen Show (4:3)</PresentationFormat>
  <Paragraphs>124</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Arial</vt:lpstr>
      <vt:lpstr>Times New Roman</vt:lpstr>
      <vt:lpstr>Microsoft YaHei</vt:lpstr>
      <vt:lpstr>Arial Unicode MS</vt:lpstr>
      <vt:lpstr>Calibri</vt:lpstr>
      <vt:lpstr>Office Theme</vt:lpstr>
      <vt:lpstr>AI Model Overview</vt:lpstr>
      <vt:lpstr>LLM Workflow</vt:lpstr>
      <vt:lpstr>LLM Workflow</vt:lpstr>
      <vt:lpstr>LCM Workflow</vt:lpstr>
      <vt:lpstr>LCM Workflow</vt:lpstr>
      <vt:lpstr>Other AI Models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Lenovo</cp:lastModifiedBy>
  <cp:revision>7</cp:revision>
  <dcterms:created xsi:type="dcterms:W3CDTF">2013-01-27T09:14:00Z</dcterms:created>
  <dcterms:modified xsi:type="dcterms:W3CDTF">2026-07-09T09:45:14Z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13D78FE5DE50485C9E561F3AFF4E3ABD_12</vt:lpwstr>
  </property>
  <property fmtid="{D5CDD505-2E9C-101B-9397-08002B2CF9AE}" pid="3" name="KSOProductBuildVer">
    <vt:lpwstr>1033-12.1.0.26880</vt:lpwstr>
  </property>
</Properties>
</file>