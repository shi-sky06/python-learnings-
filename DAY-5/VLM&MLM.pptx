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60" r:id="rId5"/>
    <p:sldId id="259" r:id="rId6"/>
    <p:sldId id="262" r:id="rId7"/>
    <p:sldId id="261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35075"/>
            <a:ext cx="7424420" cy="3336925"/>
          </a:xfrm>
        </p:spPr>
        <p:txBody>
          <a:bodyPr/>
          <a:lstStyle/>
          <a:p>
            <a:r>
              <a:rPr sz="3600" b="1">
                <a:latin typeface="Times New Roman" panose="02020603050405020304" charset="0"/>
                <a:cs typeface="Times New Roman" panose="02020603050405020304" charset="0"/>
              </a:rPr>
              <a:t>AI Model Overview</a:t>
            </a:r>
            <a:endParaRPr sz="3600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734060"/>
          </a:xfrm>
        </p:spPr>
        <p:txBody>
          <a:bodyPr>
            <a:normAutofit fontScale="90000"/>
          </a:bodyPr>
          <a:lstStyle/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V</a:t>
            </a:r>
            <a:r>
              <a:rPr>
                <a:latin typeface="Times New Roman" panose="02020603050405020304" charset="0"/>
                <a:cs typeface="Times New Roman" panose="02020603050405020304" charset="0"/>
              </a:rPr>
              <a:t>LM Workflow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0625"/>
            <a:ext cx="8229600" cy="4935855"/>
          </a:xfrm>
        </p:spPr>
        <p:txBody>
          <a:bodyPr>
            <a:normAutofit fontScale="90000"/>
          </a:bodyPr>
          <a:lstStyle/>
          <a:p>
            <a:pPr marL="0" indent="0">
              <a:buNone/>
              <a:defRPr sz="2000"/>
            </a:pPr>
            <a:r>
              <a:rPr lang="en-US" b="1">
                <a:latin typeface="Times New Roman" panose="02020603050405020304" charset="0"/>
                <a:cs typeface="Times New Roman" panose="02020603050405020304" charset="0"/>
              </a:rPr>
              <a:t>VLM </a:t>
            </a:r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-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A Vision Language Model (VLM) is an AI model that can understand both images and text together. It combines Computer Vision (understanding images) with Natural Language Processing (NLP) (understanding text).</a:t>
            </a:r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 Examples: Google Gemimi. </a:t>
            </a:r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sz="1800" b="1">
                <a:latin typeface="Times New Roman" panose="02020603050405020304" charset="0"/>
                <a:cs typeface="Times New Roman" panose="02020603050405020304" charset="0"/>
              </a:rPr>
              <a:t>Working:</a:t>
            </a:r>
            <a:endParaRPr sz="18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Input → Image Processing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→Image embedding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 → Text Piplines → Multi Modal Transformers →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→Response generation  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Output</a:t>
            </a:r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2000"/>
            </a:pPr>
            <a:r>
              <a:rPr lang="en-US" altLang="en-US" sz="1800" b="1">
                <a:latin typeface="Times New Roman" panose="02020603050405020304" charset="0"/>
                <a:cs typeface="Times New Roman" panose="02020603050405020304" charset="0"/>
              </a:rPr>
              <a:t>Input: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is the instruction or task given by the user.</a:t>
            </a:r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2000"/>
            </a:pPr>
            <a:r>
              <a:rPr lang="en-US" altLang="en-US" sz="1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Image Processing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: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Divides the images into patches for understanding. contains edges,textures</a:t>
            </a:r>
            <a:endParaRPr lang="en-US" altLang="en-US" sz="18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2000"/>
            </a:pPr>
            <a:r>
              <a:rPr lang="en-US" altLang="en-US" sz="1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Image embedding</a:t>
            </a:r>
            <a:r>
              <a:rPr lang="en-US" altLang="en-US" sz="1800" b="1">
                <a:latin typeface="Times New Roman" panose="02020603050405020304" charset="0"/>
                <a:cs typeface="Times New Roman" panose="02020603050405020304" charset="0"/>
              </a:rPr>
              <a:t>: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Each patch is then converted into vectors in form of numbers. </a:t>
            </a:r>
            <a:endParaRPr lang="en-US" altLang="en-US" sz="18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2000"/>
            </a:pPr>
            <a:r>
              <a:rPr lang="en-US" altLang="en-US" sz="1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Text Piplines</a:t>
            </a:r>
            <a:r>
              <a:rPr lang="en-US" altLang="en-US" sz="1800" b="1">
                <a:latin typeface="Times New Roman" panose="02020603050405020304" charset="0"/>
                <a:cs typeface="Times New Roman" panose="02020603050405020304" charset="0"/>
              </a:rPr>
              <a:t>: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 They work for breaking down text and follow LLMs. </a:t>
            </a:r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2000"/>
            </a:pPr>
            <a:r>
              <a:rPr lang="en-US" altLang="en-US" sz="1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Multi Modal Transformers</a:t>
            </a:r>
            <a:r>
              <a:rPr lang="en-US" altLang="en-US" sz="1800" b="1">
                <a:latin typeface="Times New Roman" panose="02020603050405020304" charset="0"/>
                <a:cs typeface="Times New Roman" panose="02020603050405020304" charset="0"/>
              </a:rPr>
              <a:t>:P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rocess both the inputs and learns the releations &amp; overall contexts of the inputs. </a:t>
            </a:r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2000"/>
            </a:pPr>
            <a:r>
              <a:rPr lang="en-US" altLang="en-US" sz="1800" b="1">
                <a:latin typeface="Times New Roman" panose="02020603050405020304" charset="0"/>
                <a:cs typeface="Times New Roman" panose="02020603050405020304" charset="0"/>
              </a:rPr>
              <a:t>Response Generation: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The Transformer predicts the nexts tokens for valid output. </a:t>
            </a:r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98145"/>
            <a:ext cx="8229600" cy="5870575"/>
          </a:xfrm>
        </p:spPr>
        <p:txBody>
          <a:bodyPr>
            <a:noAutofit/>
          </a:bodyPr>
          <a:lstStyle/>
          <a:p>
            <a:pPr marL="0" indent="0">
              <a:buNone/>
              <a:defRPr sz="2000"/>
            </a:pP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How Does a Large Action Model (LAM) Work?</a:t>
            </a:r>
            <a:endParaRPr lang="en-US" altLang="en-US" sz="16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endParaRPr lang="en-US" altLang="en-US" sz="16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Step-1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: Input Collection : =&gt; Query or images are fed to the system.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Step-2: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Image Processing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: =&gt;It is first divided into small image patches (similar to how text is divided into tokens). eg: Image 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 ├── Patch 1 ├── Patch 2├── Patch 3 └── Patch N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Each patch contains visual information such as:Colors, Edges ,Shapes,Textures.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Step-3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:Image Embeddings: Each image patch is converted into an image embedding (a vector of numbers).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Step-4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:Text Processing: The working here is ame as the LLMs including Tokenizatin, embeddings. etc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Step-5: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Multimodal Transformer: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A multimodal transformer processes them together.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Now both types of embeddings are combined. 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It learns the releationships, context and which words relate to which image regions. 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Step 6: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Response Generation: The transformer predicts the next text token, one at a time, until the answer is complete.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 Final Output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:Once an end-of-sequence token is generated, the model stops and returns the final answer.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695325"/>
          </a:xfrm>
        </p:spPr>
        <p:txBody>
          <a:bodyPr>
            <a:normAutofit fontScale="90000"/>
          </a:bodyPr>
          <a:lstStyle/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VML </a:t>
            </a:r>
            <a:r>
              <a:rPr>
                <a:latin typeface="Times New Roman" panose="02020603050405020304" charset="0"/>
                <a:cs typeface="Times New Roman" panose="02020603050405020304" charset="0"/>
              </a:rPr>
              <a:t>Workflow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72820"/>
            <a:ext cx="8229600" cy="5531485"/>
          </a:xfrm>
        </p:spPr>
        <p:txBody>
          <a:bodyPr>
            <a:noAutofit/>
          </a:bodyPr>
          <a:lstStyle/>
          <a:p>
            <a:pPr marL="0" indent="0">
              <a:buNone/>
              <a:defRPr sz="2000"/>
            </a:pPr>
            <a:r>
              <a:rPr lang="en-US" altLang="en-US" sz="1400" b="1">
                <a:latin typeface="Times New Roman" panose="02020603050405020304" charset="0"/>
                <a:cs typeface="Times New Roman" panose="02020603050405020304" charset="0"/>
              </a:rPr>
              <a:t>MLM: Masked Language Model (MLM): 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A Masked Language Model (MLM) is a language model that learns by masking (hiding) some words in a sentence and predicting the missing words using the surrounding context**. Unlike autoregressive models (such as GPT), which predict the next word using only previous words, an MLM uses **both the preceding and following words** to understand context, making it highly effective for language understanding tasks.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Examples: BERT, RoBERTa, ALBERT, DeBERTa.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Working</a:t>
            </a: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Input → Masking → Tokenization → Embeddings → Positional Encoding → Transformer Encoder → Prediction Layer → Output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altLang="en-US" sz="1400" b="1">
                <a:latin typeface="Times New Roman" panose="02020603050405020304" charset="0"/>
                <a:cs typeface="Times New Roman" panose="02020603050405020304" charset="0"/>
              </a:rPr>
              <a:t>Input:</a:t>
            </a: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 The user provides a sentence or text.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altLang="en-US" sz="1400" b="1">
                <a:latin typeface="Times New Roman" panose="02020603050405020304" charset="0"/>
                <a:cs typeface="Times New Roman" panose="02020603050405020304" charset="0"/>
              </a:rPr>
              <a:t>Masking</a:t>
            </a: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: Some words are randomly replaced with the [MASK] token.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altLang="en-US" sz="1400" b="1">
                <a:latin typeface="Times New Roman" panose="02020603050405020304" charset="0"/>
                <a:cs typeface="Times New Roman" panose="02020603050405020304" charset="0"/>
              </a:rPr>
              <a:t>Tokenization</a:t>
            </a: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: The sentence is split into tokens (words or subwords).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altLang="en-US" sz="1400" b="1">
                <a:latin typeface="Times New Roman" panose="02020603050405020304" charset="0"/>
                <a:cs typeface="Times New Roman" panose="02020603050405020304" charset="0"/>
              </a:rPr>
              <a:t>Embeddings</a:t>
            </a: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: Each token is converted into numerical vectors representing its meaning.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altLang="en-US" sz="1400" b="1">
                <a:latin typeface="Times New Roman" panose="02020603050405020304" charset="0"/>
                <a:cs typeface="Times New Roman" panose="02020603050405020304" charset="0"/>
              </a:rPr>
              <a:t>Positional Encoding: </a:t>
            </a: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Position information is added so the model understands the order of the words.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altLang="en-US" sz="1400" b="1">
                <a:latin typeface="Times New Roman" panose="02020603050405020304" charset="0"/>
                <a:cs typeface="Times New Roman" panose="02020603050405020304" charset="0"/>
              </a:rPr>
              <a:t>Transformer Encoder:</a:t>
            </a: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 Processes the entire sentence using self-attention, learning relationships between all words and understanding both left and right context.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Prediction Layer: The model predicts the most likely word for each [MASK] token.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  <a:defRPr sz="2000"/>
            </a:pPr>
            <a:r>
              <a:rPr lang="en-US" altLang="en-US" sz="1400" b="1">
                <a:latin typeface="Times New Roman" panose="02020603050405020304" charset="0"/>
                <a:cs typeface="Times New Roman" panose="02020603050405020304" charset="0"/>
              </a:rPr>
              <a:t>Output: </a:t>
            </a: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The masked word is predicted, and the complete sentence is reconstructed.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0185"/>
            <a:ext cx="8229600" cy="591629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Input Sentence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      ▼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Mask Words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      ▼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Tokenization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      ▼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Embeddings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      ▼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Positional Encoding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      ▼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Transformer Encoder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(Self-Attention + Feed Forward Network)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      ▼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Prediction Layer (Softmax)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      ▼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Predict Masked Word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      ▼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Final Output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/>
          <p:nvPr>
            <p:ph idx="1"/>
          </p:nvPr>
        </p:nvSpPr>
        <p:spPr>
          <a:xfrm>
            <a:off x="457200" y="327025"/>
            <a:ext cx="8229600" cy="620458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Step-1:</a:t>
            </a:r>
            <a:r>
              <a:rPr lang="en-US" altLang="en-US" sz="1400" b="1">
                <a:latin typeface="Times New Roman" panose="02020603050405020304" charset="0"/>
                <a:cs typeface="Times New Roman" panose="02020603050405020304" charset="0"/>
              </a:rPr>
              <a:t> Input Collection</a:t>
            </a: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 =&gt; The user provides a sentence or text to the model.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Step-2:</a:t>
            </a:r>
            <a:r>
              <a:rPr lang="en-US" altLang="en-US" sz="1400" b="1">
                <a:latin typeface="Times New Roman" panose="02020603050405020304" charset="0"/>
                <a:cs typeface="Times New Roman" panose="02020603050405020304" charset="0"/>
              </a:rPr>
              <a:t> Masking </a:t>
            </a: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 =&gt; One or more words in the sentence are randomly replaced with the [MASK] token.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Example: The cat is [MASK] on the bed.   The model's task is to predict the original masked word.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Step-3: </a:t>
            </a:r>
            <a:r>
              <a:rPr lang="en-US" altLang="en-US" sz="1400" b="1">
                <a:latin typeface="Times New Roman" panose="02020603050405020304" charset="0"/>
                <a:cs typeface="Times New Roman" panose="02020603050405020304" charset="0"/>
              </a:rPr>
              <a:t>Tokenization  </a:t>
            </a: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=&gt; The sentence is divided into smaller units called tokens (words or subwords).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Example: ["The", "cat", "is", "[MASK]", "on", "the", "bed", "."]  Each token is assigned a unique numerical ID.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Step-4: </a:t>
            </a:r>
            <a:r>
              <a:rPr lang="en-US" altLang="en-US" sz="1400" b="1">
                <a:latin typeface="Times New Roman" panose="02020603050405020304" charset="0"/>
                <a:cs typeface="Times New Roman" panose="02020603050405020304" charset="0"/>
              </a:rPr>
              <a:t>Embeddings</a:t>
            </a: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: =&gt; Each token is converted into an embedding (a numerical vector) that represents its meaning.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The embeddings allow the model to process the text mathematically.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Step-5</a:t>
            </a:r>
            <a:r>
              <a:rPr lang="en-US" altLang="en-US" sz="1400" b="1">
                <a:latin typeface="Times New Roman" panose="02020603050405020304" charset="0"/>
                <a:cs typeface="Times New Roman" panose="02020603050405020304" charset="0"/>
              </a:rPr>
              <a:t>: Positional Encoding</a:t>
            </a: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=&gt; Positional information is added to each embedding so the model understands the order of the words in the sentence.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Step-6: </a:t>
            </a:r>
            <a:r>
              <a:rPr lang="en-US" altLang="en-US" sz="1400" b="1">
                <a:latin typeface="Times New Roman" panose="02020603050405020304" charset="0"/>
                <a:cs typeface="Times New Roman" panose="02020603050405020304" charset="0"/>
              </a:rPr>
              <a:t>Transformer Encoder</a:t>
            </a: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 =&gt; The embeddings pass through multiple Transformer Encoder layers.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The encoder: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Uses Self-Attention to understand relationships between all words.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Learns the overall context of the sentence.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Uses both the words before and after the [MASK] token to determine the missing word.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Step-7: </a:t>
            </a:r>
            <a:r>
              <a:rPr lang="en-US" altLang="en-US" sz="1400" b="1">
                <a:latin typeface="Times New Roman" panose="02020603050405020304" charset="0"/>
                <a:cs typeface="Times New Roman" panose="02020603050405020304" charset="0"/>
              </a:rPr>
              <a:t>Prediction Layer  </a:t>
            </a: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=&gt; The Transformer produces scores for all words in the vocabulary.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The Softmax function converts these scores into probabilities and predicts the most likely word for the [MASK] token.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1400" b="1">
                <a:latin typeface="Times New Roman" panose="02020603050405020304" charset="0"/>
                <a:cs typeface="Times New Roman" panose="02020603050405020304" charset="0"/>
              </a:rPr>
              <a:t>Final Outpu</a:t>
            </a: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t=&gt; The predicted word replaces the [MASK] token, reconstructing the complete sentence.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1400" b="1">
                <a:latin typeface="Times New Roman" panose="02020603050405020304" charset="0"/>
                <a:cs typeface="Times New Roman" panose="02020603050405020304" charset="0"/>
              </a:rPr>
              <a:t>Example:  </a:t>
            </a: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Input: =&gt; The cat is [MASK] on the bed.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Output:   =&gt; The cat is sleeping on the bed.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4908</Words>
  <Application>WPS Presentation</Application>
  <PresentationFormat>On-screen Show (4:3)</PresentationFormat>
  <Paragraphs>91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Arial</vt:lpstr>
      <vt:lpstr>SimSun</vt:lpstr>
      <vt:lpstr>Wingdings</vt:lpstr>
      <vt:lpstr>Arial</vt:lpstr>
      <vt:lpstr>Times New Roman</vt:lpstr>
      <vt:lpstr>Microsoft YaHei</vt:lpstr>
      <vt:lpstr>Arial Unicode MS</vt:lpstr>
      <vt:lpstr>Calibri</vt:lpstr>
      <vt:lpstr>Office Theme</vt:lpstr>
      <vt:lpstr>AI Model Overview</vt:lpstr>
      <vt:lpstr>LAM Workflow</vt:lpstr>
      <vt:lpstr>PowerPoint 演示文稿</vt:lpstr>
      <vt:lpstr>MoE Workflow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Lenovo</cp:lastModifiedBy>
  <cp:revision>13</cp:revision>
  <dcterms:created xsi:type="dcterms:W3CDTF">2013-01-27T09:14:00Z</dcterms:created>
  <dcterms:modified xsi:type="dcterms:W3CDTF">2026-07-13T10:17:46Z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446E28FF2F1142B99E4417160E49D5F0_13</vt:lpwstr>
  </property>
  <property fmtid="{D5CDD505-2E9C-101B-9397-08002B2CF9AE}" pid="3" name="KSOProductBuildVer">
    <vt:lpwstr>1033-12.1.0.26880</vt:lpwstr>
  </property>
</Properties>
</file>