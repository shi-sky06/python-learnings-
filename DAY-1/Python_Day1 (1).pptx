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1005840"/>
            <a:ext cx="1097280" cy="1097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286000"/>
            <a:ext cx="1216152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PYTHON</a:t>
            </a:r>
            <a:endParaRPr lang="en-US" sz="5400" dirty="0"/>
          </a:p>
        </p:txBody>
      </p:sp>
      <p:sp>
        <p:nvSpPr>
          <p:cNvPr id="4" name="Text 1"/>
          <p:cNvSpPr/>
          <p:nvPr/>
        </p:nvSpPr>
        <p:spPr>
          <a:xfrm>
            <a:off x="0" y="3200400"/>
            <a:ext cx="121615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D4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1  —  Foundations of Python Programming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6044184" y="3977640"/>
            <a:ext cx="73152" cy="73152"/>
          </a:xfrm>
          <a:prstGeom prst="ellipse">
            <a:avLst/>
          </a:prstGeom>
          <a:solidFill>
            <a:srgbClr val="FFD43B"/>
          </a:solid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1148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320040"/>
            <a:ext cx="106070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is Python?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457200" y="1051560"/>
            <a:ext cx="1124712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A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powerful, high-level, interpreted language used for web development, automation, AI, and data science — prized for its simple, readable syntax.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57200" y="2148840"/>
            <a:ext cx="35052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5E9E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0080" y="2286000"/>
            <a:ext cx="31394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069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Simple &amp; Easy Syntax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40080" y="2697480"/>
            <a:ext cx="313944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7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Clean, English-like syntax with fewer lines of code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328160" y="2148840"/>
            <a:ext cx="35052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5E9E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511040" y="2286000"/>
            <a:ext cx="31394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069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Easy to Learn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511040" y="2697480"/>
            <a:ext cx="313944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7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Straightforward rules and highly readable programs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199120" y="2148840"/>
            <a:ext cx="35052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5E9E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382000" y="2286000"/>
            <a:ext cx="31394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069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Interpreted Language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382000" y="2697480"/>
            <a:ext cx="313944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7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Executes code line by line via an interpreter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4069080"/>
            <a:ext cx="35052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5E9E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40080" y="4206240"/>
            <a:ext cx="31394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069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High-Level Language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40080" y="4617720"/>
            <a:ext cx="313944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7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manual memory management required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328160" y="4069080"/>
            <a:ext cx="35052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5E9E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511040" y="4206240"/>
            <a:ext cx="31394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069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Platform Independent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4511040" y="4617720"/>
            <a:ext cx="313944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7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Runs on Windows, Linux, and macOS unchanged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1148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320040"/>
            <a:ext cx="106070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History of Python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457200" y="1051560"/>
            <a:ext cx="112471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A2A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Created by Guido van Rossum in 1989 at CWI, Netherlands — designed as a simple, readable successor to ABC.</a:t>
            </a:r>
            <a:endParaRPr lang="en-US" sz="2000" dirty="0">
              <a:solidFill>
                <a:srgbClr val="2A2A2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914400" y="3291840"/>
            <a:ext cx="10332720" cy="0"/>
          </a:xfrm>
          <a:prstGeom prst="line">
            <a:avLst/>
          </a:prstGeom>
          <a:noFill/>
          <a:ln w="31750">
            <a:solidFill>
              <a:srgbClr val="30699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13816" y="3191256"/>
            <a:ext cx="201168" cy="201168"/>
          </a:xfrm>
          <a:prstGeom prst="ellipse">
            <a:avLst/>
          </a:prstGeom>
          <a:solidFill>
            <a:srgbClr val="FFD43B"/>
          </a:solidFill>
          <a:ln w="25400">
            <a:solidFill>
              <a:srgbClr val="30699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28600" y="2514600"/>
            <a:ext cx="1371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069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1991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-91440" y="3520440"/>
            <a:ext cx="2011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0.9.0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-137160" y="3886200"/>
            <a:ext cx="210312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7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First public release — classes, exceptions, core data types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258056" y="3191256"/>
            <a:ext cx="201168" cy="201168"/>
          </a:xfrm>
          <a:prstGeom prst="ellipse">
            <a:avLst/>
          </a:prstGeom>
          <a:solidFill>
            <a:srgbClr val="FFD43B"/>
          </a:solidFill>
          <a:ln w="25400">
            <a:solidFill>
              <a:srgbClr val="30699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72840" y="2514600"/>
            <a:ext cx="1371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069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1994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352800" y="3520440"/>
            <a:ext cx="2011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1.0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307080" y="3886200"/>
            <a:ext cx="210312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7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Added lambda, map, filter, reduce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702296" y="3191256"/>
            <a:ext cx="201168" cy="201168"/>
          </a:xfrm>
          <a:prstGeom prst="ellipse">
            <a:avLst/>
          </a:prstGeom>
          <a:solidFill>
            <a:srgbClr val="FFD43B"/>
          </a:solidFill>
          <a:ln w="25400">
            <a:solidFill>
              <a:srgbClr val="30699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117080" y="2514600"/>
            <a:ext cx="1371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069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2000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797040" y="3520440"/>
            <a:ext cx="2011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2.0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751320" y="3886200"/>
            <a:ext cx="210312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7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Garbage collection &amp; list comprehensions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1146536" y="3191256"/>
            <a:ext cx="201168" cy="201168"/>
          </a:xfrm>
          <a:prstGeom prst="ellipse">
            <a:avLst/>
          </a:prstGeom>
          <a:solidFill>
            <a:srgbClr val="FFD43B"/>
          </a:solidFill>
          <a:ln w="25400">
            <a:solidFill>
              <a:srgbClr val="30699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561320" y="2514600"/>
            <a:ext cx="1371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069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2008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0241280" y="3520440"/>
            <a:ext cx="2011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3.0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0195560" y="3886200"/>
            <a:ext cx="210312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7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Major upgrades to syntax, performance &amp; consistency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57200" y="5806440"/>
            <a:ext cx="112471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B77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Today, Python is one of the world's most popular languages — powering AI, machine learning, automation, and scientific computing.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1148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320040"/>
            <a:ext cx="106070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Variables &amp; Data Types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457200" y="1051560"/>
            <a:ext cx="548640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A2A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variable is a named memory location used to store data; its value can change during execution. The name itself is called an identifier.</a:t>
            </a:r>
            <a:endParaRPr lang="en-US" sz="1600" dirty="0">
              <a:solidFill>
                <a:srgbClr val="2A2A2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457200" y="2331720"/>
            <a:ext cx="5486400" cy="1737360"/>
          </a:xfrm>
          <a:prstGeom prst="roundRect">
            <a:avLst>
              <a:gd name="adj" fmla="val 4211"/>
            </a:avLst>
          </a:prstGeom>
          <a:solidFill>
            <a:srgbClr val="1E2B3C"/>
          </a:solidFill>
        </p:spPr>
      </p:sp>
      <p:sp>
        <p:nvSpPr>
          <p:cNvPr id="6" name="Text 3"/>
          <p:cNvSpPr/>
          <p:nvPr/>
        </p:nvSpPr>
        <p:spPr>
          <a:xfrm>
            <a:off x="685800" y="2514600"/>
            <a:ext cx="50292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D43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name = "Shifa"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8FD3F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age = 20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9BE39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marks = 85.5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309360" y="1051560"/>
            <a:ext cx="5394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069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Types of Variables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309360" y="1508760"/>
            <a:ext cx="539496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E5E9E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92240" y="1508760"/>
            <a:ext cx="10972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0699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680960" y="1508760"/>
            <a:ext cx="38404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7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Integer values, e.g. 20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309360" y="2331720"/>
            <a:ext cx="539496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E5E9E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492240" y="2331720"/>
            <a:ext cx="10972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0699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float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680960" y="2331720"/>
            <a:ext cx="38404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7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Decimal values, e.g. 85.5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309360" y="3154680"/>
            <a:ext cx="539496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E5E9E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492240" y="3154680"/>
            <a:ext cx="10972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0699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str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680960" y="3154680"/>
            <a:ext cx="38404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7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Text, e.g. "Shifa"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309360" y="3977640"/>
            <a:ext cx="539496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E5E9E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92240" y="3977640"/>
            <a:ext cx="10972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0699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bool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680960" y="3977640"/>
            <a:ext cx="38404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7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True / False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309360" y="4800600"/>
            <a:ext cx="539496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E5E9E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492240" y="4800600"/>
            <a:ext cx="10972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0699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complex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7680960" y="4800600"/>
            <a:ext cx="38404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7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Complex numbers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1148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320040"/>
            <a:ext cx="106070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Operators in Python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A2A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Operators are symbols or keywords used to perform operations on variables and values.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457200" y="1691640"/>
            <a:ext cx="3505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9E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0080" y="1810512"/>
            <a:ext cx="3139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069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Arithmetic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40080" y="2148840"/>
            <a:ext cx="3139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B3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+  -  *  /  %  **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2587752"/>
            <a:ext cx="3139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7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Mathematical calculations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28160" y="1691640"/>
            <a:ext cx="3505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9E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511040" y="1810512"/>
            <a:ext cx="3139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069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Comparison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511040" y="2148840"/>
            <a:ext cx="3139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B3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==  !=  &gt;  &lt;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11040" y="2587752"/>
            <a:ext cx="3139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7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Compare values → True / False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199120" y="1691640"/>
            <a:ext cx="3505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9E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382000" y="1810512"/>
            <a:ext cx="3139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069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Assignment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8382000" y="2148840"/>
            <a:ext cx="3139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B3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  +=  -=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382000" y="2587752"/>
            <a:ext cx="3139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7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Assign values to variables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57200" y="3383280"/>
            <a:ext cx="3505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9E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3502152"/>
            <a:ext cx="3139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069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Logical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640080" y="3840480"/>
            <a:ext cx="3139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B3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and  or  not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40080" y="4279392"/>
            <a:ext cx="3139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7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Combine conditional statements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328160" y="3383280"/>
            <a:ext cx="3505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9E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4511040" y="3502152"/>
            <a:ext cx="3139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069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Bitwise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4511040" y="3840480"/>
            <a:ext cx="3139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B3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&amp;  |  ^  ~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511040" y="4279392"/>
            <a:ext cx="3139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7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Operate on binary numbers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8199120" y="3383280"/>
            <a:ext cx="3505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9E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8382000" y="3502152"/>
            <a:ext cx="3139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069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Identity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8382000" y="3840480"/>
            <a:ext cx="3139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B3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is  is not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8382000" y="4279392"/>
            <a:ext cx="3139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7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Compare memory locations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1148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320040"/>
            <a:ext cx="106070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Memory Management in Python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457200" y="1051560"/>
            <a:ext cx="603504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A2A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Memory management is the process of allocating, using, and freeing memory during program execution. Python handles this automatically, which makes programming easier and reduces memory-related errors.</a:t>
            </a:r>
            <a:endParaRPr lang="en-US" dirty="0">
              <a:solidFill>
                <a:srgbClr val="2A2A2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" name="Text 2"/>
          <p:cNvSpPr/>
          <p:nvPr/>
        </p:nvSpPr>
        <p:spPr>
          <a:xfrm>
            <a:off x="457200" y="2514600"/>
            <a:ext cx="6035040" cy="2926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A2A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objects are stored in a memory area called the heap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A2A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automatically manages memory allocation for every object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A2A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Reference counting tracks how many references point to an object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A2A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When an object is no longer used, its memory is released automatically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A2A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Automatic memory management reduces programming errors and makes Python simple to use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949440" y="1051560"/>
            <a:ext cx="4754880" cy="4389120"/>
          </a:xfrm>
          <a:prstGeom prst="roundRect">
            <a:avLst>
              <a:gd name="adj" fmla="val 2083"/>
            </a:avLst>
          </a:prstGeom>
          <a:solidFill>
            <a:srgbClr val="1E2B3C"/>
          </a:solidFill>
        </p:spPr>
      </p:sp>
      <p:sp>
        <p:nvSpPr>
          <p:cNvPr id="7" name="Text 4"/>
          <p:cNvSpPr/>
          <p:nvPr/>
        </p:nvSpPr>
        <p:spPr>
          <a:xfrm>
            <a:off x="7223760" y="1280160"/>
            <a:ext cx="4206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4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Heap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223760" y="1828800"/>
            <a:ext cx="4206240" cy="594360"/>
          </a:xfrm>
          <a:prstGeom prst="roundRect">
            <a:avLst>
              <a:gd name="adj" fmla="val 9231"/>
            </a:avLst>
          </a:prstGeom>
          <a:solidFill>
            <a:srgbClr val="2C3E52"/>
          </a:solidFill>
          <a:ln w="12700">
            <a:solidFill>
              <a:srgbClr val="44586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60920" y="1828800"/>
            <a:ext cx="39319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E6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name = "Shifa"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223760" y="2651760"/>
            <a:ext cx="4206240" cy="594360"/>
          </a:xfrm>
          <a:prstGeom prst="roundRect">
            <a:avLst>
              <a:gd name="adj" fmla="val 9231"/>
            </a:avLst>
          </a:prstGeom>
          <a:solidFill>
            <a:srgbClr val="2C3E52"/>
          </a:solidFill>
          <a:ln w="12700">
            <a:solidFill>
              <a:srgbClr val="44586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60920" y="2651760"/>
            <a:ext cx="39319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E6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age = 20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223760" y="3474720"/>
            <a:ext cx="4206240" cy="594360"/>
          </a:xfrm>
          <a:prstGeom prst="roundRect">
            <a:avLst>
              <a:gd name="adj" fmla="val 9231"/>
            </a:avLst>
          </a:prstGeom>
          <a:solidFill>
            <a:srgbClr val="2C3E52"/>
          </a:solidFill>
          <a:ln w="12700">
            <a:solidFill>
              <a:srgbClr val="44586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60920" y="3474720"/>
            <a:ext cx="39319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E6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marks = 85.5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223760" y="4297680"/>
            <a:ext cx="4206240" cy="594360"/>
          </a:xfrm>
          <a:prstGeom prst="roundRect">
            <a:avLst>
              <a:gd name="adj" fmla="val 9231"/>
            </a:avLst>
          </a:prstGeom>
          <a:solidFill>
            <a:srgbClr val="2C3E52"/>
          </a:solidFill>
          <a:ln w="12700">
            <a:solidFill>
              <a:srgbClr val="44586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60920" y="4297680"/>
            <a:ext cx="39319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E6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list1 = [1,2,3]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1148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320040"/>
            <a:ext cx="106070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Garbage Collection in Python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457200" y="1051560"/>
            <a:ext cx="1004379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A2A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Garbage collection is the process of automatically removing unused objects from memory, freeing space and improving program efficiency.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57200" y="1920240"/>
            <a:ext cx="6400800" cy="2743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2A2A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performs garbage collection automatically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2A2A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 mainly uses reference counting to manage and track objects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2A2A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When an object is no longer used, Python deletes it automatically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2A2A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Garbage collection also detects and removes circular references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2A2A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gc module can be used to control garbage collection manually</a:t>
            </a: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7223760" y="1920240"/>
            <a:ext cx="4480560" cy="1645920"/>
          </a:xfrm>
          <a:prstGeom prst="roundRect">
            <a:avLst>
              <a:gd name="adj" fmla="val 4444"/>
            </a:avLst>
          </a:prstGeom>
          <a:solidFill>
            <a:srgbClr val="1E2B3C"/>
          </a:solidFill>
        </p:spPr>
      </p:sp>
      <p:sp>
        <p:nvSpPr>
          <p:cNvPr id="7" name="Text 4"/>
          <p:cNvSpPr/>
          <p:nvPr/>
        </p:nvSpPr>
        <p:spPr>
          <a:xfrm>
            <a:off x="7452360" y="2057400"/>
            <a:ext cx="4023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4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Using the gc module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452360" y="2423160"/>
            <a:ext cx="402336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FD3F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import gc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BE39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gc.collect()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1148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320040"/>
            <a:ext cx="106070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Translators &amp; Comments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1051560"/>
            <a:ext cx="35052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9E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40080" y="1188720"/>
            <a:ext cx="3139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069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Compiler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1554480"/>
            <a:ext cx="3139440" cy="1234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7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Converts the entire program to machine code at once; errors reported after full compilation; faster execution</a:t>
            </a:r>
            <a:endParaRPr lang="en-US" sz="1400" dirty="0">
              <a:solidFill>
                <a:srgbClr val="6B778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4328160" y="1051560"/>
            <a:ext cx="35052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9E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511040" y="1188720"/>
            <a:ext cx="3139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069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Interpreter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11040" y="1554480"/>
            <a:ext cx="3139440" cy="1234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7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Converts and executes code line by line; errors shown immediately; slower than a compiler</a:t>
            </a:r>
            <a:endParaRPr lang="en-US" sz="1400" dirty="0">
              <a:solidFill>
                <a:srgbClr val="6B778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8199120" y="1051560"/>
            <a:ext cx="35052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9E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382000" y="1188720"/>
            <a:ext cx="3139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069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Assembler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382000" y="1554480"/>
            <a:ext cx="3139440" cy="1234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7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Converts assembly language into machine language; used for low-level programming</a:t>
            </a:r>
            <a:endParaRPr lang="en-US" sz="1400" dirty="0">
              <a:solidFill>
                <a:srgbClr val="6B778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57200" y="3200400"/>
            <a:ext cx="11247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069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Comments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57200" y="3566160"/>
            <a:ext cx="112471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A2A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Comments explain code and are ignored by the interpreter during execution — improving readability and maintenance.</a:t>
            </a:r>
            <a:endParaRPr lang="en-US" sz="1600" dirty="0">
              <a:solidFill>
                <a:srgbClr val="2A2A2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457200" y="4069080"/>
            <a:ext cx="5440680" cy="1051560"/>
          </a:xfrm>
          <a:prstGeom prst="roundRect">
            <a:avLst>
              <a:gd name="adj" fmla="val 6957"/>
            </a:avLst>
          </a:prstGeom>
          <a:solidFill>
            <a:srgbClr val="1E2B3C"/>
          </a:solidFill>
        </p:spPr>
      </p:sp>
      <p:sp>
        <p:nvSpPr>
          <p:cNvPr id="16" name="Text 13"/>
          <p:cNvSpPr/>
          <p:nvPr/>
        </p:nvSpPr>
        <p:spPr>
          <a:xfrm>
            <a:off x="640080" y="4160520"/>
            <a:ext cx="5074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4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Single-line Comment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40080" y="4480560"/>
            <a:ext cx="5074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CF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 This is a single-line comment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263640" y="4069080"/>
            <a:ext cx="5440680" cy="1051560"/>
          </a:xfrm>
          <a:prstGeom prst="roundRect">
            <a:avLst>
              <a:gd name="adj" fmla="val 6957"/>
            </a:avLst>
          </a:prstGeom>
          <a:solidFill>
            <a:srgbClr val="1E2B3C"/>
          </a:solidFill>
        </p:spPr>
      </p:sp>
      <p:sp>
        <p:nvSpPr>
          <p:cNvPr id="19" name="Text 16"/>
          <p:cNvSpPr/>
          <p:nvPr/>
        </p:nvSpPr>
        <p:spPr>
          <a:xfrm>
            <a:off x="6446520" y="4160520"/>
            <a:ext cx="5074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4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Multi-line Comment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446520" y="4480560"/>
            <a:ext cx="5074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CF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""" This is a multi-line comment """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1148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320040"/>
            <a:ext cx="106070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Conditional &amp; Control Statements</a:t>
            </a:r>
            <a:endParaRPr lang="en-US" b="1" dirty="0">
              <a:solidFill>
                <a:srgbClr val="1E2B3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1051560"/>
            <a:ext cx="5760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069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Conditional Statements</a:t>
            </a:r>
            <a:endParaRPr lang="en-US" b="1" dirty="0">
              <a:solidFill>
                <a:srgbClr val="30699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457200" y="1463040"/>
            <a:ext cx="576072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5E9E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0080" y="1463040"/>
            <a:ext cx="1371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0699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if</a:t>
            </a:r>
            <a:endParaRPr lang="en-US" b="1" dirty="0">
              <a:solidFill>
                <a:srgbClr val="306998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</p:txBody>
      </p:sp>
      <p:sp>
        <p:nvSpPr>
          <p:cNvPr id="7" name="Text 4"/>
          <p:cNvSpPr/>
          <p:nvPr/>
        </p:nvSpPr>
        <p:spPr>
          <a:xfrm>
            <a:off x="2011680" y="1463040"/>
            <a:ext cx="4114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B77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Executes a block only if the condition is true</a:t>
            </a:r>
            <a:endParaRPr lang="en-US" dirty="0">
              <a:solidFill>
                <a:srgbClr val="6B778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57200" y="2240280"/>
            <a:ext cx="576072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5E9E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" y="2240280"/>
            <a:ext cx="1371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0699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if-else</a:t>
            </a:r>
            <a:endParaRPr lang="en-US" b="1" dirty="0">
              <a:solidFill>
                <a:srgbClr val="306998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2011680" y="2240280"/>
            <a:ext cx="4114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B77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Runs one block if true, another if false</a:t>
            </a:r>
            <a:endParaRPr lang="en-US" dirty="0">
              <a:solidFill>
                <a:srgbClr val="6B778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457200" y="3017520"/>
            <a:ext cx="576072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5E9E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40080" y="3017520"/>
            <a:ext cx="1371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0699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if-elif-else</a:t>
            </a:r>
            <a:endParaRPr lang="en-US" b="1" dirty="0">
              <a:solidFill>
                <a:srgbClr val="306998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2011680" y="3017520"/>
            <a:ext cx="4114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B77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Checks multiple conditions in sequence</a:t>
            </a:r>
            <a:endParaRPr lang="en-US" dirty="0">
              <a:solidFill>
                <a:srgbClr val="6B778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457200" y="3794760"/>
            <a:ext cx="576072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5E9E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40080" y="3794760"/>
            <a:ext cx="1371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0699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Nested if</a:t>
            </a:r>
            <a:endParaRPr lang="en-US" b="1" dirty="0">
              <a:solidFill>
                <a:srgbClr val="306998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2011680" y="3794760"/>
            <a:ext cx="4114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B77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 if statement placed inside another if</a:t>
            </a:r>
            <a:endParaRPr lang="en-US" dirty="0">
              <a:solidFill>
                <a:srgbClr val="6B778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583680" y="1051560"/>
            <a:ext cx="5120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069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Control Statements</a:t>
            </a:r>
            <a:endParaRPr lang="en-US" b="1" dirty="0">
              <a:solidFill>
                <a:srgbClr val="30699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6583680" y="146304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9E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766560" y="1536192"/>
            <a:ext cx="4754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0699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break</a:t>
            </a:r>
            <a:endParaRPr lang="en-US" b="1" dirty="0">
              <a:solidFill>
                <a:srgbClr val="306998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6766560" y="1810512"/>
            <a:ext cx="47548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B77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Stops a loop immediately when triggered</a:t>
            </a:r>
            <a:endParaRPr lang="en-US" dirty="0">
              <a:solidFill>
                <a:srgbClr val="6B778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6583680" y="228600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9E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766560" y="2359152"/>
            <a:ext cx="4754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0699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continue</a:t>
            </a:r>
            <a:endParaRPr lang="en-US" b="1" dirty="0">
              <a:solidFill>
                <a:srgbClr val="306998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6766560" y="2633472"/>
            <a:ext cx="47548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B77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Skips the current iteration, moves to next</a:t>
            </a:r>
            <a:endParaRPr lang="en-US" dirty="0">
              <a:solidFill>
                <a:srgbClr val="6B778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1148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320040"/>
            <a:ext cx="106070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Loops in Python — the for Loop</a:t>
            </a:r>
            <a:endParaRPr lang="en-US" sz="2000" b="1" dirty="0">
              <a:solidFill>
                <a:srgbClr val="1E2B3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1051560"/>
            <a:ext cx="1124712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A2A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Loops execute a block of code repeatedly, reducing repetition and making programs efficient. Python mainly provides two types of loops: for loop and while loop.</a:t>
            </a:r>
            <a:endParaRPr lang="en-US" sz="1600" dirty="0">
              <a:solidFill>
                <a:srgbClr val="2A2A2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" name="Text 2"/>
          <p:cNvSpPr/>
          <p:nvPr/>
        </p:nvSpPr>
        <p:spPr>
          <a:xfrm>
            <a:off x="457200" y="1874520"/>
            <a:ext cx="5852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069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 Loop</a:t>
            </a:r>
            <a:endParaRPr lang="en-US" sz="1400" b="1" dirty="0">
              <a:solidFill>
                <a:srgbClr val="30699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3"/>
          <p:cNvSpPr/>
          <p:nvPr/>
        </p:nvSpPr>
        <p:spPr>
          <a:xfrm>
            <a:off x="457200" y="2286000"/>
            <a:ext cx="5852160" cy="1645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for loop is used to iterate over a sequence such as a list, tuple, string, or range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loop body runs once for every item in the sequence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Commonly combined with range() to repeat an action a fixed number of times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703695" y="1734820"/>
            <a:ext cx="3275965" cy="1863725"/>
          </a:xfrm>
          <a:prstGeom prst="roundRect">
            <a:avLst>
              <a:gd name="adj" fmla="val 3636"/>
            </a:avLst>
          </a:prstGeom>
          <a:solidFill>
            <a:srgbClr val="1E2B3C"/>
          </a:solidFill>
        </p:spPr>
      </p:sp>
      <p:sp>
        <p:nvSpPr>
          <p:cNvPr id="8" name="Text 5"/>
          <p:cNvSpPr/>
          <p:nvPr/>
        </p:nvSpPr>
        <p:spPr>
          <a:xfrm>
            <a:off x="6903720" y="118872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4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</a:t>
            </a:r>
            <a:endParaRPr lang="en-US" sz="1400" b="1" dirty="0">
              <a:solidFill>
                <a:srgbClr val="FFD43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9" name="Text 6"/>
          <p:cNvSpPr/>
          <p:nvPr/>
        </p:nvSpPr>
        <p:spPr>
          <a:xfrm>
            <a:off x="7019290" y="2058035"/>
            <a:ext cx="223774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FD3F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for i in range(1, 6):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BE39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print(i)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4160520"/>
            <a:ext cx="112471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5E9E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85800" y="4297680"/>
            <a:ext cx="10789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069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Iterating over a list</a:t>
            </a:r>
            <a:endParaRPr lang="en-US" sz="1400" b="1" dirty="0">
              <a:solidFill>
                <a:srgbClr val="30699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85800" y="4663440"/>
            <a:ext cx="1078992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2A2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fruits = ["apple", "banana", "cherry"]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A2A2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for fruit in fruits: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A2A2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print(fruit)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1148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320040"/>
            <a:ext cx="106070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while Loop</a:t>
            </a:r>
            <a:endParaRPr lang="en-US" sz="1600" b="1" dirty="0">
              <a:solidFill>
                <a:srgbClr val="1E2B3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1051560"/>
            <a:ext cx="585216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A2A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while loop executes a block of code repeatedly as long as its condition remains true — useful when the number of repetitions isn't known in advance.</a:t>
            </a:r>
            <a:endParaRPr lang="en-US" sz="1600" dirty="0">
              <a:solidFill>
                <a:srgbClr val="2A2A2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" name="Text 2"/>
          <p:cNvSpPr/>
          <p:nvPr/>
        </p:nvSpPr>
        <p:spPr>
          <a:xfrm>
            <a:off x="457200" y="2148840"/>
            <a:ext cx="5852160" cy="1645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A2A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condition is checked before every iteration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A2A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loop continues until the condition becomes false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A2A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loop variable must be updated inside the loop, or it may run forever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675120" y="1051560"/>
            <a:ext cx="5029200" cy="2103120"/>
          </a:xfrm>
          <a:prstGeom prst="roundRect">
            <a:avLst>
              <a:gd name="adj" fmla="val 3478"/>
            </a:avLst>
          </a:prstGeom>
          <a:solidFill>
            <a:srgbClr val="1E2B3C"/>
          </a:solidFill>
        </p:spPr>
      </p:sp>
      <p:sp>
        <p:nvSpPr>
          <p:cNvPr id="7" name="Text 4"/>
          <p:cNvSpPr/>
          <p:nvPr/>
        </p:nvSpPr>
        <p:spPr>
          <a:xfrm>
            <a:off x="6903720" y="118872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D4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</a:t>
            </a:r>
            <a:endParaRPr lang="en-US" sz="1600" b="1" dirty="0">
              <a:solidFill>
                <a:srgbClr val="FFD43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" name="Text 5"/>
          <p:cNvSpPr/>
          <p:nvPr/>
        </p:nvSpPr>
        <p:spPr>
          <a:xfrm>
            <a:off x="6903720" y="1508760"/>
            <a:ext cx="457200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BE39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 = 1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8FD3F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while i &lt;= 5: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9BE39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print(i)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9BE39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i += 1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57200" y="4160520"/>
            <a:ext cx="112471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5E9E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85800" y="4297680"/>
            <a:ext cx="10789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069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 Loop vs while Loop</a:t>
            </a:r>
            <a:endParaRPr lang="en-US" sz="1600" b="1" dirty="0">
              <a:solidFill>
                <a:srgbClr val="30699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85800" y="4663440"/>
            <a:ext cx="1078992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7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a for loop when iterating over a known sequence (list, tuple, string, range). Use a while loop when repetition depends on a condition rather than a fixed sequence.</a:t>
            </a:r>
            <a:endParaRPr lang="en-US" sz="1600" dirty="0">
              <a:solidFill>
                <a:srgbClr val="6B778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1148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320040"/>
            <a:ext cx="106070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Lists &amp; Strings</a:t>
            </a:r>
            <a:endParaRPr lang="en-US" sz="1400" b="1" dirty="0">
              <a:solidFill>
                <a:srgbClr val="1E2B3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5E9E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85800" y="1280160"/>
            <a:ext cx="4983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069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List</a:t>
            </a:r>
            <a:endParaRPr lang="en-US" sz="1400" b="1" dirty="0">
              <a:solidFill>
                <a:srgbClr val="30699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85800" y="1737360"/>
            <a:ext cx="4983480" cy="548640"/>
          </a:xfrm>
          <a:prstGeom prst="roundRect">
            <a:avLst>
              <a:gd name="adj" fmla="val 10000"/>
            </a:avLst>
          </a:prstGeom>
          <a:solidFill>
            <a:srgbClr val="1E2B3C"/>
          </a:solidFill>
        </p:spPr>
      </p:sp>
      <p:sp>
        <p:nvSpPr>
          <p:cNvPr id="7" name="Text 4"/>
          <p:cNvSpPr/>
          <p:nvPr/>
        </p:nvSpPr>
        <p:spPr>
          <a:xfrm>
            <a:off x="822960" y="1737360"/>
            <a:ext cx="47091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D43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list1 = [1, 2, 3, 4]</a:t>
            </a:r>
            <a:endParaRPr lang="en-US" sz="1400" dirty="0">
              <a:solidFill>
                <a:srgbClr val="FFD43B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</p:txBody>
      </p:sp>
      <p:sp>
        <p:nvSpPr>
          <p:cNvPr id="8" name="Text 5"/>
          <p:cNvSpPr/>
          <p:nvPr/>
        </p:nvSpPr>
        <p:spPr>
          <a:xfrm>
            <a:off x="685800" y="2377440"/>
            <a:ext cx="4983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7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Ordered, mutable, allows duplicates — created with [ ]</a:t>
            </a:r>
            <a:endParaRPr lang="en-US" sz="1400" dirty="0">
              <a:solidFill>
                <a:srgbClr val="6B778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263640" y="109728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5E9E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92240" y="1280160"/>
            <a:ext cx="4983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069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String</a:t>
            </a:r>
            <a:endParaRPr lang="en-US" sz="1400" b="1" dirty="0">
              <a:solidFill>
                <a:srgbClr val="30699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6492240" y="1737360"/>
            <a:ext cx="4983480" cy="548640"/>
          </a:xfrm>
          <a:prstGeom prst="roundRect">
            <a:avLst>
              <a:gd name="adj" fmla="val 10000"/>
            </a:avLst>
          </a:prstGeom>
          <a:solidFill>
            <a:srgbClr val="1E2B3C"/>
          </a:solidFill>
        </p:spPr>
      </p:sp>
      <p:sp>
        <p:nvSpPr>
          <p:cNvPr id="12" name="Text 9"/>
          <p:cNvSpPr/>
          <p:nvPr/>
        </p:nvSpPr>
        <p:spPr>
          <a:xfrm>
            <a:off x="6629400" y="1737360"/>
            <a:ext cx="47091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D43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name = "Python"</a:t>
            </a:r>
            <a:endParaRPr lang="en-US" sz="1400" dirty="0">
              <a:solidFill>
                <a:srgbClr val="FFD43B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492240" y="2377440"/>
            <a:ext cx="4983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7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Immutable sequence of characters — supports indexing &amp; slicing</a:t>
            </a:r>
            <a:endParaRPr lang="en-US" sz="1400" dirty="0">
              <a:solidFill>
                <a:srgbClr val="6B778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57200" y="3063240"/>
            <a:ext cx="11247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069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Common List Operations</a:t>
            </a:r>
            <a:endParaRPr lang="en-US" sz="1400" b="1" dirty="0">
              <a:solidFill>
                <a:srgbClr val="30699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457200" y="347472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E2B3C"/>
          </a:solidFill>
        </p:spPr>
      </p:sp>
      <p:sp>
        <p:nvSpPr>
          <p:cNvPr id="16" name="Text 13"/>
          <p:cNvSpPr/>
          <p:nvPr/>
        </p:nvSpPr>
        <p:spPr>
          <a:xfrm>
            <a:off x="640080" y="3566160"/>
            <a:ext cx="5074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4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Adding Elements</a:t>
            </a:r>
            <a:endParaRPr lang="en-US" sz="1400" b="1" dirty="0">
              <a:solidFill>
                <a:srgbClr val="FFD43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40080" y="3840480"/>
            <a:ext cx="507492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FD3F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list1 = [1, 2, 3]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BE39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list1.append(4)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BE39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print(list1)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263640" y="347472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E2B3C"/>
          </a:solidFill>
        </p:spPr>
      </p:sp>
      <p:sp>
        <p:nvSpPr>
          <p:cNvPr id="19" name="Text 16"/>
          <p:cNvSpPr/>
          <p:nvPr/>
        </p:nvSpPr>
        <p:spPr>
          <a:xfrm>
            <a:off x="6446520" y="3566160"/>
            <a:ext cx="5074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4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Removing Elements</a:t>
            </a:r>
            <a:endParaRPr lang="en-US" sz="1400" b="1" dirty="0">
              <a:solidFill>
                <a:srgbClr val="FFD43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6446520" y="3840480"/>
            <a:ext cx="507492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FD3F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list1 = [1, 2, 3]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BE39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list1.remove(2)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BE39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print(list1)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1148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320040"/>
            <a:ext cx="106070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Tuples in Python</a:t>
            </a:r>
            <a:endParaRPr lang="en-US" sz="1400" b="1" dirty="0">
              <a:solidFill>
                <a:srgbClr val="1E2B3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1051560"/>
            <a:ext cx="112471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2A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tuple is a collection data type used to store multiple items in a single variable. Tuples are created using parentheses ( ).</a:t>
            </a:r>
            <a:endParaRPr lang="en-US" sz="1400" dirty="0">
              <a:solidFill>
                <a:srgbClr val="2A2A2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" name="Text 2"/>
          <p:cNvSpPr/>
          <p:nvPr/>
        </p:nvSpPr>
        <p:spPr>
          <a:xfrm>
            <a:off x="457200" y="1737360"/>
            <a:ext cx="5120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069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Characteristics</a:t>
            </a:r>
            <a:endParaRPr lang="en-US" sz="1400" b="1" dirty="0">
              <a:solidFill>
                <a:srgbClr val="30699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3"/>
          <p:cNvSpPr/>
          <p:nvPr/>
        </p:nvSpPr>
        <p:spPr>
          <a:xfrm>
            <a:off x="457200" y="2148840"/>
            <a:ext cx="512064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Ordered collection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Immutable — cannot be changed after creation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Allows duplicate elements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 store different data types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943600" y="1737360"/>
            <a:ext cx="5760720" cy="1005840"/>
          </a:xfrm>
          <a:prstGeom prst="roundRect">
            <a:avLst>
              <a:gd name="adj" fmla="val 7273"/>
            </a:avLst>
          </a:prstGeom>
          <a:solidFill>
            <a:srgbClr val="1E2B3C"/>
          </a:solidFill>
        </p:spPr>
      </p:sp>
      <p:sp>
        <p:nvSpPr>
          <p:cNvPr id="8" name="Text 5"/>
          <p:cNvSpPr/>
          <p:nvPr/>
        </p:nvSpPr>
        <p:spPr>
          <a:xfrm>
            <a:off x="6172200" y="1920240"/>
            <a:ext cx="53035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D43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tuple1 = (1, 2, 3)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8FD3F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print(tuple1)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160520"/>
            <a:ext cx="11247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069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Common Tuple Operations</a:t>
            </a:r>
            <a:endParaRPr lang="en-US" sz="1400" b="1" dirty="0">
              <a:solidFill>
                <a:srgbClr val="30699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57200" y="4572000"/>
            <a:ext cx="3505200" cy="1554480"/>
          </a:xfrm>
          <a:prstGeom prst="roundRect">
            <a:avLst>
              <a:gd name="adj" fmla="val 4706"/>
            </a:avLst>
          </a:prstGeom>
          <a:solidFill>
            <a:srgbClr val="1E2B3C"/>
          </a:solidFill>
        </p:spPr>
      </p:sp>
      <p:sp>
        <p:nvSpPr>
          <p:cNvPr id="11" name="Text 8"/>
          <p:cNvSpPr/>
          <p:nvPr/>
        </p:nvSpPr>
        <p:spPr>
          <a:xfrm>
            <a:off x="640080" y="4681728"/>
            <a:ext cx="3139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4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Length</a:t>
            </a:r>
            <a:endParaRPr lang="en-US" sz="1400" b="1" dirty="0">
              <a:solidFill>
                <a:srgbClr val="FFD43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40080" y="4983480"/>
            <a:ext cx="313944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E6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tuple1 = (1, 2, 3)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7E6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print(len(tuple1))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328160" y="4572000"/>
            <a:ext cx="3505200" cy="1554480"/>
          </a:xfrm>
          <a:prstGeom prst="roundRect">
            <a:avLst>
              <a:gd name="adj" fmla="val 4706"/>
            </a:avLst>
          </a:prstGeom>
          <a:solidFill>
            <a:srgbClr val="1E2B3C"/>
          </a:solidFill>
        </p:spPr>
      </p:sp>
      <p:sp>
        <p:nvSpPr>
          <p:cNvPr id="14" name="Text 11"/>
          <p:cNvSpPr/>
          <p:nvPr/>
        </p:nvSpPr>
        <p:spPr>
          <a:xfrm>
            <a:off x="4511040" y="4681728"/>
            <a:ext cx="3139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4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Concatenation</a:t>
            </a:r>
            <a:endParaRPr lang="en-US" sz="1400" b="1" dirty="0">
              <a:solidFill>
                <a:srgbClr val="FFD43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4511040" y="4983480"/>
            <a:ext cx="313944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E6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t1 = (1, 2)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7E6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t2 = (3, 4)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7E6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print(t1 + t2)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8199120" y="4572000"/>
            <a:ext cx="3505200" cy="1554480"/>
          </a:xfrm>
          <a:prstGeom prst="roundRect">
            <a:avLst>
              <a:gd name="adj" fmla="val 4706"/>
            </a:avLst>
          </a:prstGeom>
          <a:solidFill>
            <a:srgbClr val="1E2B3C"/>
          </a:solidFill>
        </p:spPr>
      </p:sp>
      <p:sp>
        <p:nvSpPr>
          <p:cNvPr id="17" name="Text 14"/>
          <p:cNvSpPr/>
          <p:nvPr/>
        </p:nvSpPr>
        <p:spPr>
          <a:xfrm>
            <a:off x="8382000" y="4681728"/>
            <a:ext cx="3139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4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Repetition</a:t>
            </a:r>
            <a:endParaRPr lang="en-US" sz="1400" b="1" dirty="0">
              <a:solidFill>
                <a:srgbClr val="FFD43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8382000" y="4983480"/>
            <a:ext cx="313944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E6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print((1, 2) * 2)</a:t>
            </a:r>
            <a:endParaRPr lang="en-US" sz="1400" dirty="0">
              <a:solidFill>
                <a:srgbClr val="C7E6FF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5654</Words>
  <Application>WPS Presentation</Application>
  <PresentationFormat>On-screen Show (16:9)</PresentationFormat>
  <Paragraphs>318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8" baseType="lpstr">
      <vt:lpstr>Arial</vt:lpstr>
      <vt:lpstr>SimSun</vt:lpstr>
      <vt:lpstr>Wingdings</vt:lpstr>
      <vt:lpstr>Cambria</vt:lpstr>
      <vt:lpstr>Cambria</vt:lpstr>
      <vt:lpstr>Cambria</vt:lpstr>
      <vt:lpstr>Calibri</vt:lpstr>
      <vt:lpstr>Calibri</vt:lpstr>
      <vt:lpstr>Calibri</vt:lpstr>
      <vt:lpstr>Courier New</vt:lpstr>
      <vt:lpstr>Courier New</vt:lpstr>
      <vt:lpstr>Courier New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Day-1</dc:title>
  <dc:creator>Python Day-1</dc:creator>
  <dc:subject>PptxGenJS Presentation</dc:subject>
  <cp:lastModifiedBy>Lenovo</cp:lastModifiedBy>
  <cp:revision>3</cp:revision>
  <dcterms:created xsi:type="dcterms:W3CDTF">2026-07-07T08:30:00Z</dcterms:created>
  <dcterms:modified xsi:type="dcterms:W3CDTF">2026-07-07T08:44:13Z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19BB285867194098A71646A86DB40C33_12</vt:lpwstr>
  </property>
  <property fmtid="{D5CDD505-2E9C-101B-9397-08002B2CF9AE}" pid="3" name="KSOProductBuildVer">
    <vt:lpwstr>1033-12.1.0.26880</vt:lpwstr>
  </property>
</Properties>
</file>