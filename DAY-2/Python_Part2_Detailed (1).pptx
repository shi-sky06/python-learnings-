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30699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FFD43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331720"/>
            <a:ext cx="1005840" cy="1005840"/>
          </a:xfrm>
          <a:prstGeom prst="ellipse">
            <a:avLst/>
          </a:prstGeom>
          <a:solidFill>
            <a:srgbClr val="FFD43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" y="2593238"/>
            <a:ext cx="482803" cy="482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520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 —  PART 2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3886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Control Flow, Data Structures &amp; Functions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40080" y="4754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statements  •  Loops  •  Lists, Strings, Tuples &amp; Dictionaries  •  Functions  •  Lambda / Map / Filter / Reduce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Control Statements in Python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that direct the flow of program execution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349240" cy="4846320"/>
          </a:xfrm>
          <a:prstGeom prst="roundRect">
            <a:avLst>
              <a:gd name="adj" fmla="val 1698"/>
            </a:avLst>
          </a:prstGeom>
          <a:solidFill>
            <a:srgbClr val="F2F5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737360"/>
            <a:ext cx="548640" cy="548640"/>
          </a:xfrm>
          <a:prstGeom prst="ellipse">
            <a:avLst/>
          </a:prstGeom>
          <a:solidFill>
            <a:srgbClr val="DCE6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188000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75564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Selection Statements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60120" y="2468880"/>
            <a:ext cx="4709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— executes a block only when a condition is True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if-else — runs one of two blocks based on a condition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if-elif-else — checks multiple conditions in sequence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use relational/logical operators (&gt;, ==, and, or)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60120" y="4434840"/>
            <a:ext cx="4709160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1188720" y="4617720"/>
            <a:ext cx="4251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age &gt;= 18: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print("Adult")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print("Minor")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309360" y="1463040"/>
            <a:ext cx="5349240" cy="4846320"/>
          </a:xfrm>
          <a:prstGeom prst="roundRect">
            <a:avLst>
              <a:gd name="adj" fmla="val 1698"/>
            </a:avLst>
          </a:prstGeom>
          <a:solidFill>
            <a:srgbClr val="FFF9E6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0" y="1737360"/>
            <a:ext cx="548640" cy="548640"/>
          </a:xfrm>
          <a:prstGeom prst="ellipse">
            <a:avLst/>
          </a:prstGeom>
          <a:solidFill>
            <a:srgbClr val="FCEEB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326" y="1880006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15200" y="175564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Jump Statements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6629400" y="2468880"/>
            <a:ext cx="4709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— exits the loop immediately, skipping remaining iterations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— skips the rest of the current iteration, moves to next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— a null operation; placeholder when a statement is required syntactically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629400" y="4160520"/>
            <a:ext cx="470916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/>
        </p:spPr>
      </p:sp>
      <p:sp>
        <p:nvSpPr>
          <p:cNvPr id="17" name="Text 13"/>
          <p:cNvSpPr/>
          <p:nvPr/>
        </p:nvSpPr>
        <p:spPr>
          <a:xfrm>
            <a:off x="6858000" y="4343400"/>
            <a:ext cx="4251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range(5):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 == 3: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 == 1: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continue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print(i)   # 0, 2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Loops in Python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a block of code multiple times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306998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554480"/>
            <a:ext cx="5349240" cy="4754880"/>
          </a:xfrm>
          <a:prstGeom prst="roundRect">
            <a:avLst>
              <a:gd name="adj" fmla="val 1731"/>
            </a:avLst>
          </a:prstGeom>
          <a:solidFill>
            <a:srgbClr val="26306E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828800"/>
            <a:ext cx="548640" cy="548640"/>
          </a:xfrm>
          <a:prstGeom prst="ellipse">
            <a:avLst/>
          </a:prstGeom>
          <a:solidFill>
            <a:srgbClr val="3A45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197144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84708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4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for loop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2560320"/>
            <a:ext cx="4709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Iterates over a sequence — list, string, tuple, or range()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fixed number of times, known in advance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use else: — runs once the loop finishes normally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60120" y="4069080"/>
            <a:ext cx="4709160" cy="2057400"/>
          </a:xfrm>
          <a:prstGeom prst="roundRect">
            <a:avLst>
              <a:gd name="adj" fmla="val 3556"/>
            </a:avLst>
          </a:prstGeom>
          <a:solidFill>
            <a:srgbClr val="141B4D"/>
          </a:solidFill>
          <a:ln/>
        </p:spPr>
      </p:sp>
      <p:sp>
        <p:nvSpPr>
          <p:cNvPr id="11" name="Text 8"/>
          <p:cNvSpPr/>
          <p:nvPr/>
        </p:nvSpPr>
        <p:spPr>
          <a:xfrm>
            <a:off x="1188720" y="4251960"/>
            <a:ext cx="4251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 = ["apple", "kiwi"]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f in fruits: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print(f)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range(3):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print(i)   # 0, 1, 2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309360" y="1554480"/>
            <a:ext cx="5349240" cy="4754880"/>
          </a:xfrm>
          <a:prstGeom prst="roundRect">
            <a:avLst>
              <a:gd name="adj" fmla="val 1731"/>
            </a:avLst>
          </a:prstGeom>
          <a:solidFill>
            <a:srgbClr val="26306E"/>
          </a:solidFill>
          <a:ln/>
        </p:spPr>
      </p:sp>
      <p:sp>
        <p:nvSpPr>
          <p:cNvPr id="13" name="Shape 10"/>
          <p:cNvSpPr/>
          <p:nvPr/>
        </p:nvSpPr>
        <p:spPr>
          <a:xfrm>
            <a:off x="6583680" y="1828800"/>
            <a:ext cx="548640" cy="548640"/>
          </a:xfrm>
          <a:prstGeom prst="ellipse">
            <a:avLst/>
          </a:prstGeom>
          <a:solidFill>
            <a:srgbClr val="3A459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326" y="1971446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15200" y="184708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4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while loop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6629400" y="2560320"/>
            <a:ext cx="4709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as long as a condition remains True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when the number of iterations isn't known ahead of time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condition update inside the loop to avoid an infinite loop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629400" y="4069080"/>
            <a:ext cx="4709160" cy="2057400"/>
          </a:xfrm>
          <a:prstGeom prst="roundRect">
            <a:avLst>
              <a:gd name="adj" fmla="val 3556"/>
            </a:avLst>
          </a:prstGeom>
          <a:solidFill>
            <a:srgbClr val="141B4D"/>
          </a:solidFill>
          <a:ln/>
        </p:spPr>
      </p:sp>
      <p:sp>
        <p:nvSpPr>
          <p:cNvPr id="18" name="Text 14"/>
          <p:cNvSpPr/>
          <p:nvPr/>
        </p:nvSpPr>
        <p:spPr>
          <a:xfrm>
            <a:off x="6858000" y="4251960"/>
            <a:ext cx="4251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= 0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count &lt; 3: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print(count)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 += 1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Nested loops: a loop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placed inside another loop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Lists in Python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Ordered, mutable collections that can hold duplicate values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349240" cy="4846320"/>
          </a:xfrm>
          <a:prstGeom prst="roundRect">
            <a:avLst>
              <a:gd name="adj" fmla="val 1698"/>
            </a:avLst>
          </a:prstGeom>
          <a:solidFill>
            <a:srgbClr val="F2F5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737360"/>
            <a:ext cx="548640" cy="548640"/>
          </a:xfrm>
          <a:prstGeom prst="ellipse">
            <a:avLst/>
          </a:prstGeom>
          <a:solidFill>
            <a:srgbClr val="DCE6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188000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75564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Characteristics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60120" y="2468880"/>
            <a:ext cx="4709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using square brackets: [ ]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— items retain the position they're inserted in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 — items can be added, removed, or changed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duplicate values and mixed data types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indexing (list[0]) and slicing (list[1:3])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470916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methods: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60120" y="502920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append()   insert()   remove()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pop()   sort()   reverse()   extend()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309360" y="1463040"/>
            <a:ext cx="5349240" cy="4846320"/>
          </a:xfrm>
          <a:prstGeom prst="roundRect">
            <a:avLst>
              <a:gd name="adj" fmla="val 1698"/>
            </a:avLst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6629400" y="17373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629400" y="2194560"/>
            <a:ext cx="4709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 = [10, 20, 30]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nums.append(40)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nums.insert(1, 15)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nums.remove(20)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print(nums[0])      # 10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print(nums[1:3])    # [15, 30]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nums.sort()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print(nums)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[10, 15, 30, 40]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Strings in Python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sequences of characters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966960" y="-1645920"/>
            <a:ext cx="4114800" cy="4114800"/>
          </a:xfrm>
          <a:prstGeom prst="ellipse">
            <a:avLst/>
          </a:prstGeom>
          <a:solidFill>
            <a:srgbClr val="306998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554480"/>
            <a:ext cx="5349240" cy="4754880"/>
          </a:xfrm>
          <a:prstGeom prst="roundRect">
            <a:avLst>
              <a:gd name="adj" fmla="val 1731"/>
            </a:avLst>
          </a:prstGeom>
          <a:solidFill>
            <a:srgbClr val="26306E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828800"/>
            <a:ext cx="548640" cy="548640"/>
          </a:xfrm>
          <a:prstGeom prst="ellipse">
            <a:avLst/>
          </a:prstGeom>
          <a:solidFill>
            <a:srgbClr val="3A45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197144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84708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Characteristics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0120" y="2560320"/>
            <a:ext cx="4709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with single, double, or triple quotes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— cannot be changed once created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indexing and slicing, just like lists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quotes (''' ''') allow multi-line strings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f-strings (f"...") embed variables directly: f"Hi {name}"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60120" y="489204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methods: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60120" y="521208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upper()  lower()  strip()  replace()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split()  join()  find()  format()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309360" y="1554480"/>
            <a:ext cx="5349240" cy="4754880"/>
          </a:xfrm>
          <a:prstGeom prst="roundRect">
            <a:avLst>
              <a:gd name="adj" fmla="val 1731"/>
            </a:avLst>
          </a:prstGeom>
          <a:solidFill>
            <a:srgbClr val="141B4D"/>
          </a:solidFill>
          <a:ln/>
        </p:spPr>
      </p:sp>
      <p:sp>
        <p:nvSpPr>
          <p:cNvPr id="13" name="Text 10"/>
          <p:cNvSpPr/>
          <p:nvPr/>
        </p:nvSpPr>
        <p:spPr>
          <a:xfrm>
            <a:off x="6629400" y="182880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629400" y="2286000"/>
            <a:ext cx="4709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"Python"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print(name[0])         # P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print(name[1:4])       # yth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print(name.upper())    # PYTHON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25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 = f"I am {age} yrs old"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print(msg)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 am 25 yrs old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Tuples in Python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Ordered, immutable collections — ideal for fixed data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349240" cy="4846320"/>
          </a:xfrm>
          <a:prstGeom prst="roundRect">
            <a:avLst>
              <a:gd name="adj" fmla="val 1698"/>
            </a:avLst>
          </a:prstGeom>
          <a:solidFill>
            <a:srgbClr val="FFF9E6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737360"/>
            <a:ext cx="548640" cy="548640"/>
          </a:xfrm>
          <a:prstGeom prst="ellipse">
            <a:avLst/>
          </a:prstGeom>
          <a:solidFill>
            <a:srgbClr val="FCEEB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188000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75564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Characteristics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60120" y="2468880"/>
            <a:ext cx="4709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using round brackets: ( 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— items keep their insertion position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— cannot be changed after creation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lists; used for fixed, unchanging data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packing (grouping values) and unpacking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470916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methods: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60120" y="502920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count() — counts occurrences of a value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index() — returns the position of a value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309360" y="1463040"/>
            <a:ext cx="5349240" cy="4846320"/>
          </a:xfrm>
          <a:prstGeom prst="roundRect">
            <a:avLst>
              <a:gd name="adj" fmla="val 1698"/>
            </a:avLst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6629400" y="17373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629400" y="2194560"/>
            <a:ext cx="4709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 = (10, 20)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print(point[0])     # 10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Packing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 = ("Sam", 22)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Unpacking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 age = person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print(name, age)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Sam 22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Dictionaries in Python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 collections of key-value pairs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-1463040" y="4480560"/>
            <a:ext cx="3931920" cy="3931920"/>
          </a:xfrm>
          <a:prstGeom prst="ellipse">
            <a:avLst/>
          </a:prstGeom>
          <a:solidFill>
            <a:srgbClr val="306998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554480"/>
            <a:ext cx="5349240" cy="4754880"/>
          </a:xfrm>
          <a:prstGeom prst="roundRect">
            <a:avLst>
              <a:gd name="adj" fmla="val 1731"/>
            </a:avLst>
          </a:prstGeom>
          <a:solidFill>
            <a:srgbClr val="26306E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828800"/>
            <a:ext cx="548640" cy="548640"/>
          </a:xfrm>
          <a:prstGeom prst="ellipse">
            <a:avLst/>
          </a:prstGeom>
          <a:solidFill>
            <a:srgbClr val="3A45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197144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84708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Characteristics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0120" y="2560320"/>
            <a:ext cx="4709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using curly braces: { key: value }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value is accessed through its unique key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 — pairs can be added, changed, or removed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insertion order (Python 3.7+)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must be unique and immutable (e.g. strings, numbers)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60120" y="489204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methods: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60120" y="521208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keys()  values()  items()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get()  update()  pop()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309360" y="1554480"/>
            <a:ext cx="5349240" cy="4754880"/>
          </a:xfrm>
          <a:prstGeom prst="roundRect">
            <a:avLst>
              <a:gd name="adj" fmla="val 1731"/>
            </a:avLst>
          </a:prstGeom>
          <a:solidFill>
            <a:srgbClr val="141B4D"/>
          </a:solidFill>
          <a:ln/>
        </p:spPr>
      </p:sp>
      <p:sp>
        <p:nvSpPr>
          <p:cNvPr id="13" name="Text 10"/>
          <p:cNvSpPr/>
          <p:nvPr/>
        </p:nvSpPr>
        <p:spPr>
          <a:xfrm>
            <a:off x="6629400" y="182880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629400" y="2286000"/>
            <a:ext cx="4709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= 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"Alice",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"age": 25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print(student["name"])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student["age"] = 26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student.update({"city":"NY"})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print(student.keys())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Functions &amp; Types of Functions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blocks of code that perform a specific task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F2F5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572768"/>
            <a:ext cx="502920" cy="502920"/>
          </a:xfrm>
          <a:prstGeom prst="ellipse">
            <a:avLst/>
          </a:prstGeom>
          <a:solidFill>
            <a:srgbClr val="DCE6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1703527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508760"/>
            <a:ext cx="9829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keyword defines a function  •  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sends a value back to the caller  •  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avoid repeating code and improve readability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74320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14400" y="294436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Built-in Functions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338328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 Python itself — no need to define them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40690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e.g. len(), print(), type()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72200" y="274320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46520" y="294436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User-defined Functions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446520" y="338328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the programmer using the def keyword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46520" y="40690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e.g. def greet(): ...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" y="475488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914400" y="495604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Recursive Functions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914400" y="539496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that calls itself to solve smaller sub-problems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14400" y="60807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e.g. factorial(n)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172200" y="475488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446520" y="495604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Anonymous (Lambda) Functions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446520" y="539496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unnamed, single-expression functions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446520" y="60807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e.g. lambda x: x * 2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Types of Arguments in Python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ways values can be passed into a function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0" y="4572000"/>
            <a:ext cx="3474720" cy="3474720"/>
          </a:xfrm>
          <a:prstGeom prst="ellipse">
            <a:avLst/>
          </a:prstGeom>
          <a:solidFill>
            <a:srgbClr val="306998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4592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26306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745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D4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Positional Arguments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in order; matched to parameters by position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3154680"/>
            <a:ext cx="4800600" cy="457200"/>
          </a:xfrm>
          <a:prstGeom prst="roundRect">
            <a:avLst>
              <a:gd name="adj" fmla="val 12000"/>
            </a:avLst>
          </a:prstGeom>
          <a:solidFill>
            <a:srgbClr val="141B4D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1546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greet("Sam", 25)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64592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26306E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8745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D4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Keyword Arguments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46520" y="233172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as name=value; order doesn't matter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46520" y="3154680"/>
            <a:ext cx="4800600" cy="457200"/>
          </a:xfrm>
          <a:prstGeom prst="roundRect">
            <a:avLst>
              <a:gd name="adj" fmla="val 12000"/>
            </a:avLst>
          </a:prstGeom>
          <a:solidFill>
            <a:srgbClr val="141B4D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31546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greet(age=25, name="Sam")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26306E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2519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D4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Default Arguments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914400" y="470916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has a preset value if none is provided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14400" y="5532120"/>
            <a:ext cx="4800600" cy="457200"/>
          </a:xfrm>
          <a:prstGeom prst="roundRect">
            <a:avLst>
              <a:gd name="adj" fmla="val 12000"/>
            </a:avLst>
          </a:prstGeom>
          <a:solidFill>
            <a:srgbClr val="141B4D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55321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greet(name="Guest"):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402336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26306E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2519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D4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Variable-length Arguments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446520" y="470916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*args collects extra positional; **kwargs collects extra keyword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46520" y="5532120"/>
            <a:ext cx="4800600" cy="457200"/>
          </a:xfrm>
          <a:prstGeom prst="roundRect">
            <a:avLst>
              <a:gd name="adj" fmla="val 12000"/>
            </a:avLst>
          </a:prstGeom>
          <a:solidFill>
            <a:srgbClr val="141B4D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55321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f(*args, **kwargs):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Built-in Functions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Ready-to-use functions that come packaged with Python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2F5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544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90195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number of items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2F5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5544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type()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190195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data type of an object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2F5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258775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2935224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output to the console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2496312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2F5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258775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input()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2935224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input from the user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529584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2F5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3621024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range()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396849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sequence of numbers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529584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2F5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0" y="3621024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sorted()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396849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new sorted list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562856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2F5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68680" y="4654296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sum() / min() / max()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500176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values in an iterable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72200" y="4562856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2F5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0" y="4654296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abs()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0" y="500176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absolute value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5596128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2F5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68680" y="568756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enumerate()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68680" y="60350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items with their index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172200" y="5596128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2F5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00800" y="568756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zip()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0800" y="60350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multiple iterables element-wise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Lambda, Map, Filter &amp; Reduce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functional-programming tools in Python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49240" cy="2194560"/>
          </a:xfrm>
          <a:prstGeom prst="roundRect">
            <a:avLst>
              <a:gd name="adj" fmla="val 3750"/>
            </a:avLst>
          </a:prstGeom>
          <a:solidFill>
            <a:srgbClr val="26306E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1783080"/>
            <a:ext cx="457200" cy="457200"/>
          </a:xfrm>
          <a:prstGeom prst="ellipse">
            <a:avLst/>
          </a:prstGeom>
          <a:solidFill>
            <a:srgbClr val="3A45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190195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5564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lambda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28600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Anonymous, single-expression function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914400" y="2834640"/>
            <a:ext cx="4800600" cy="777240"/>
          </a:xfrm>
          <a:prstGeom prst="roundRect">
            <a:avLst>
              <a:gd name="adj" fmla="val 7059"/>
            </a:avLst>
          </a:prstGeom>
          <a:solidFill>
            <a:srgbClr val="141B4D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292608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 = lambda x: x * x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square(5)  →  25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172200" y="1554480"/>
            <a:ext cx="5349240" cy="2194560"/>
          </a:xfrm>
          <a:prstGeom prst="roundRect">
            <a:avLst>
              <a:gd name="adj" fmla="val 3750"/>
            </a:avLst>
          </a:prstGeom>
          <a:solidFill>
            <a:srgbClr val="26306E"/>
          </a:solidFill>
          <a:ln/>
        </p:spPr>
      </p:sp>
      <p:sp>
        <p:nvSpPr>
          <p:cNvPr id="12" name="Shape 9"/>
          <p:cNvSpPr/>
          <p:nvPr/>
        </p:nvSpPr>
        <p:spPr>
          <a:xfrm>
            <a:off x="6428232" y="1783080"/>
            <a:ext cx="457200" cy="457200"/>
          </a:xfrm>
          <a:prstGeom prst="ellipse">
            <a:avLst/>
          </a:prstGeom>
          <a:solidFill>
            <a:srgbClr val="3A459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190195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40880" y="175564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map()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46520" y="228600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a function to every item in an iterable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46520" y="2834640"/>
            <a:ext cx="4800600" cy="777240"/>
          </a:xfrm>
          <a:prstGeom prst="roundRect">
            <a:avLst>
              <a:gd name="adj" fmla="val 7059"/>
            </a:avLst>
          </a:prstGeom>
          <a:solidFill>
            <a:srgbClr val="141B4D"/>
          </a:solidFill>
          <a:ln/>
        </p:spPr>
      </p:sp>
      <p:sp>
        <p:nvSpPr>
          <p:cNvPr id="17" name="Text 13"/>
          <p:cNvSpPr/>
          <p:nvPr/>
        </p:nvSpPr>
        <p:spPr>
          <a:xfrm>
            <a:off x="6583680" y="292608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list(map(lambda x: x*2, [1,2,3]))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[2, 4, 6]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40080" y="3931920"/>
            <a:ext cx="5349240" cy="2194560"/>
          </a:xfrm>
          <a:prstGeom prst="roundRect">
            <a:avLst>
              <a:gd name="adj" fmla="val 3750"/>
            </a:avLst>
          </a:prstGeom>
          <a:solidFill>
            <a:srgbClr val="26306E"/>
          </a:solidFill>
          <a:ln/>
        </p:spPr>
      </p:sp>
      <p:sp>
        <p:nvSpPr>
          <p:cNvPr id="19" name="Shape 15"/>
          <p:cNvSpPr/>
          <p:nvPr/>
        </p:nvSpPr>
        <p:spPr>
          <a:xfrm>
            <a:off x="896112" y="4160520"/>
            <a:ext cx="457200" cy="457200"/>
          </a:xfrm>
          <a:prstGeom prst="ellipse">
            <a:avLst/>
          </a:prstGeom>
          <a:solidFill>
            <a:srgbClr val="3A4590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4279392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08760" y="413308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filter()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914400" y="466344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only items where the function returns True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914400" y="5212080"/>
            <a:ext cx="4800600" cy="777240"/>
          </a:xfrm>
          <a:prstGeom prst="roundRect">
            <a:avLst>
              <a:gd name="adj" fmla="val 7059"/>
            </a:avLst>
          </a:prstGeom>
          <a:solidFill>
            <a:srgbClr val="141B4D"/>
          </a:solidFill>
          <a:ln/>
        </p:spPr>
      </p:sp>
      <p:sp>
        <p:nvSpPr>
          <p:cNvPr id="24" name="Text 19"/>
          <p:cNvSpPr/>
          <p:nvPr/>
        </p:nvSpPr>
        <p:spPr>
          <a:xfrm>
            <a:off x="1051560" y="530352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list(filter(lambda x: x%2==0, [1,2,3,4]))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[2, 4]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172200" y="3931920"/>
            <a:ext cx="5349240" cy="2194560"/>
          </a:xfrm>
          <a:prstGeom prst="roundRect">
            <a:avLst>
              <a:gd name="adj" fmla="val 3750"/>
            </a:avLst>
          </a:prstGeom>
          <a:solidFill>
            <a:srgbClr val="26306E"/>
          </a:solidFill>
          <a:ln/>
        </p:spPr>
      </p:sp>
      <p:sp>
        <p:nvSpPr>
          <p:cNvPr id="26" name="Shape 21"/>
          <p:cNvSpPr/>
          <p:nvPr/>
        </p:nvSpPr>
        <p:spPr>
          <a:xfrm>
            <a:off x="6428232" y="4160520"/>
            <a:ext cx="457200" cy="457200"/>
          </a:xfrm>
          <a:prstGeom prst="ellipse">
            <a:avLst/>
          </a:prstGeom>
          <a:solidFill>
            <a:srgbClr val="3A4590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4279392"/>
            <a:ext cx="219456" cy="2194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040880" y="413308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reduce()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6446520" y="466344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Cumulatively combines items into one value (from functools)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6446520" y="5212080"/>
            <a:ext cx="4800600" cy="777240"/>
          </a:xfrm>
          <a:prstGeom prst="roundRect">
            <a:avLst>
              <a:gd name="adj" fmla="val 7059"/>
            </a:avLst>
          </a:prstGeom>
          <a:solidFill>
            <a:srgbClr val="141B4D"/>
          </a:solidFill>
          <a:ln/>
        </p:spPr>
      </p:sp>
      <p:sp>
        <p:nvSpPr>
          <p:cNvPr id="31" name="Text 25"/>
          <p:cNvSpPr/>
          <p:nvPr/>
        </p:nvSpPr>
        <p:spPr>
          <a:xfrm>
            <a:off x="6583680" y="530352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reduce(lambda a,b: a+b, [1,2,3,4])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10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 — Control Flow, Data Structures &amp; Functions</dc:title>
  <dc:subject>PptxGenJS Presentation</dc:subject>
  <dc:creator>Python Basics</dc:creator>
  <cp:lastModifiedBy>Python Basics</cp:lastModifiedBy>
  <cp:revision>1</cp:revision>
  <dcterms:created xsi:type="dcterms:W3CDTF">2026-07-08T04:33:48Z</dcterms:created>
  <dcterms:modified xsi:type="dcterms:W3CDTF">2026-07-08T04:33:48Z</dcterms:modified>
</cp:coreProperties>
</file>